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RoxboroughCF" charset="1" panose="00000500000000000000"/>
      <p:regular r:id="rId20"/>
    </p:embeddedFont>
    <p:embeddedFont>
      <p:font typeface="Poppins Medium" charset="1" panose="02000000000000000000"/>
      <p:regular r:id="rId21"/>
    </p:embeddedFont>
    <p:embeddedFont>
      <p:font typeface="Poppins Light" charset="1" panose="020000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jpeg" Type="http://schemas.openxmlformats.org/officeDocument/2006/relationships/image"/><Relationship Id="rId4" Target="../media/image5.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jpeg" Type="http://schemas.openxmlformats.org/officeDocument/2006/relationships/image"/><Relationship Id="rId4" Target="../media/image8.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jpeg" Type="http://schemas.openxmlformats.org/officeDocument/2006/relationships/image"/><Relationship Id="rId4" Target="../media/image1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535D6B"/>
        </a:solidFill>
      </p:bgPr>
    </p:bg>
    <p:spTree>
      <p:nvGrpSpPr>
        <p:cNvPr id="1" name=""/>
        <p:cNvGrpSpPr/>
        <p:nvPr/>
      </p:nvGrpSpPr>
      <p:grpSpPr>
        <a:xfrm>
          <a:off x="0" y="0"/>
          <a:ext cx="0" cy="0"/>
          <a:chOff x="0" y="0"/>
          <a:chExt cx="0" cy="0"/>
        </a:xfrm>
      </p:grpSpPr>
      <p:grpSp>
        <p:nvGrpSpPr>
          <p:cNvPr name="Group 2" id="2"/>
          <p:cNvGrpSpPr/>
          <p:nvPr/>
        </p:nvGrpSpPr>
        <p:grpSpPr>
          <a:xfrm rot="0">
            <a:off x="154518" y="651502"/>
            <a:ext cx="17978963" cy="5140651"/>
            <a:chOff x="0" y="0"/>
            <a:chExt cx="23971951" cy="6854201"/>
          </a:xfrm>
        </p:grpSpPr>
        <p:sp>
          <p:nvSpPr>
            <p:cNvPr name="AutoShape 3" id="3"/>
            <p:cNvSpPr/>
            <p:nvPr/>
          </p:nvSpPr>
          <p:spPr>
            <a:xfrm rot="0">
              <a:off x="0" y="6841420"/>
              <a:ext cx="23971951" cy="12781"/>
            </a:xfrm>
            <a:prstGeom prst="rect">
              <a:avLst/>
            </a:prstGeom>
            <a:solidFill>
              <a:srgbClr val="F0F2F4"/>
            </a:solidFill>
          </p:spPr>
        </p:sp>
        <p:sp>
          <p:nvSpPr>
            <p:cNvPr name="TextBox 4" id="4"/>
            <p:cNvSpPr txBox="true"/>
            <p:nvPr/>
          </p:nvSpPr>
          <p:spPr>
            <a:xfrm rot="0">
              <a:off x="0" y="171450"/>
              <a:ext cx="23971951" cy="5234541"/>
            </a:xfrm>
            <a:prstGeom prst="rect">
              <a:avLst/>
            </a:prstGeom>
          </p:spPr>
          <p:txBody>
            <a:bodyPr anchor="t" rtlCol="false" tIns="0" lIns="0" bIns="0" rIns="0">
              <a:spAutoFit/>
            </a:bodyPr>
            <a:lstStyle/>
            <a:p>
              <a:pPr algn="ctr">
                <a:lnSpc>
                  <a:spcPts val="10000"/>
                </a:lnSpc>
              </a:pPr>
              <a:r>
                <a:rPr lang="en-US" sz="10000">
                  <a:solidFill>
                    <a:srgbClr val="F0F2F4"/>
                  </a:solidFill>
                  <a:latin typeface="RoxboroughCF"/>
                  <a:ea typeface="RoxboroughCF"/>
                  <a:cs typeface="RoxboroughCF"/>
                  <a:sym typeface="RoxboroughCF"/>
                </a:rPr>
                <a:t>StoryToGame: Game Level Generator from Narrative Input</a:t>
              </a:r>
            </a:p>
          </p:txBody>
        </p:sp>
      </p:grpSp>
      <p:sp>
        <p:nvSpPr>
          <p:cNvPr name="TextBox 5" id="5"/>
          <p:cNvSpPr txBox="true"/>
          <p:nvPr/>
        </p:nvSpPr>
        <p:spPr>
          <a:xfrm rot="0">
            <a:off x="12774454" y="7376157"/>
            <a:ext cx="4484846" cy="1882143"/>
          </a:xfrm>
          <a:prstGeom prst="rect">
            <a:avLst/>
          </a:prstGeom>
        </p:spPr>
        <p:txBody>
          <a:bodyPr anchor="t" rtlCol="false" tIns="0" lIns="0" bIns="0" rIns="0">
            <a:spAutoFit/>
          </a:bodyPr>
          <a:lstStyle/>
          <a:p>
            <a:pPr algn="l">
              <a:lnSpc>
                <a:spcPts val="7649"/>
              </a:lnSpc>
            </a:pPr>
            <a:r>
              <a:rPr lang="en-US" sz="5099" spc="50">
                <a:solidFill>
                  <a:srgbClr val="F0F2F4"/>
                </a:solidFill>
                <a:latin typeface="Poppins Medium"/>
                <a:ea typeface="Poppins Medium"/>
                <a:cs typeface="Poppins Medium"/>
                <a:sym typeface="Poppins Medium"/>
              </a:rPr>
              <a:t>by</a:t>
            </a:r>
          </a:p>
          <a:p>
            <a:pPr algn="l">
              <a:lnSpc>
                <a:spcPts val="7649"/>
              </a:lnSpc>
              <a:spcBef>
                <a:spcPct val="0"/>
              </a:spcBef>
            </a:pPr>
            <a:r>
              <a:rPr lang="en-US" sz="5099" spc="50">
                <a:solidFill>
                  <a:srgbClr val="F0F2F4"/>
                </a:solidFill>
                <a:latin typeface="Poppins Medium"/>
                <a:ea typeface="Poppins Medium"/>
                <a:cs typeface="Poppins Medium"/>
                <a:sym typeface="Poppins Medium"/>
              </a:rPr>
              <a:t>Jabez John A</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B8C6DD"/>
        </a:solidFill>
      </p:bgPr>
    </p:bg>
    <p:spTree>
      <p:nvGrpSpPr>
        <p:cNvPr id="1" name=""/>
        <p:cNvGrpSpPr/>
        <p:nvPr/>
      </p:nvGrpSpPr>
      <p:grpSpPr>
        <a:xfrm>
          <a:off x="0" y="0"/>
          <a:ext cx="0" cy="0"/>
          <a:chOff x="0" y="0"/>
          <a:chExt cx="0" cy="0"/>
        </a:xfrm>
      </p:grpSpPr>
      <p:sp>
        <p:nvSpPr>
          <p:cNvPr name="TextBox 2" id="2"/>
          <p:cNvSpPr txBox="true"/>
          <p:nvPr/>
        </p:nvSpPr>
        <p:spPr>
          <a:xfrm rot="0">
            <a:off x="1208791" y="3101813"/>
            <a:ext cx="5261406" cy="446252"/>
          </a:xfrm>
          <a:prstGeom prst="rect">
            <a:avLst/>
          </a:prstGeom>
        </p:spPr>
        <p:txBody>
          <a:bodyPr anchor="t" rtlCol="false" tIns="0" lIns="0" bIns="0" rIns="0">
            <a:spAutoFit/>
          </a:bodyPr>
          <a:lstStyle/>
          <a:p>
            <a:pPr algn="l">
              <a:lnSpc>
                <a:spcPts val="3640"/>
              </a:lnSpc>
              <a:spcBef>
                <a:spcPct val="0"/>
              </a:spcBef>
            </a:pPr>
          </a:p>
        </p:txBody>
      </p:sp>
      <p:sp>
        <p:nvSpPr>
          <p:cNvPr name="TextBox 3" id="3"/>
          <p:cNvSpPr txBox="true"/>
          <p:nvPr/>
        </p:nvSpPr>
        <p:spPr>
          <a:xfrm rot="0">
            <a:off x="848630" y="2233735"/>
            <a:ext cx="16050509" cy="3790789"/>
          </a:xfrm>
          <a:prstGeom prst="rect">
            <a:avLst/>
          </a:prstGeom>
        </p:spPr>
        <p:txBody>
          <a:bodyPr anchor="t" rtlCol="false" tIns="0" lIns="0" bIns="0" rIns="0">
            <a:spAutoFit/>
          </a:bodyPr>
          <a:lstStyle/>
          <a:p>
            <a:pPr algn="just">
              <a:lnSpc>
                <a:spcPts val="3006"/>
              </a:lnSpc>
            </a:pPr>
            <a:r>
              <a:rPr lang="en-US" sz="2004" spc="20">
                <a:solidFill>
                  <a:srgbClr val="111B1E"/>
                </a:solidFill>
                <a:latin typeface="Poppins Medium"/>
                <a:ea typeface="Poppins Medium"/>
                <a:cs typeface="Poppins Medium"/>
                <a:sym typeface="Poppins Medium"/>
              </a:rPr>
              <a:t>This project, StoryToGame: A Story-Based Game Generator, aims to automatically transform user-written narratives into playable 2D games. The system accepts natural language stories as input and, using a combination of machine learning and rule-based classification, identifies whether the game should be a Knight Adventure or a Space Shooter. Once classified, relevant game assets such as backgrounds, characters, enemies, and sound effects are mapped to the story context. Levels are then dynamically generated in Pygame, featuring animations, enemy behaviors, and progression challenges.</a:t>
            </a:r>
          </a:p>
          <a:p>
            <a:pPr algn="just">
              <a:lnSpc>
                <a:spcPts val="3006"/>
              </a:lnSpc>
            </a:pPr>
            <a:r>
              <a:rPr lang="en-US" sz="2004" spc="20">
                <a:solidFill>
                  <a:srgbClr val="111B1E"/>
                </a:solidFill>
                <a:latin typeface="Poppins Medium"/>
                <a:ea typeface="Poppins Medium"/>
                <a:cs typeface="Poppins Medium"/>
                <a:sym typeface="Poppins Medium"/>
              </a:rPr>
              <a:t>The project demonstrates an end-to-end workflow that integrates Natural Language Processing (NLP), asset mapping, and 2D game development. It provides an innovative framework for automating creative game design and showcases the potential of combining artificial intelligence with interactive entertainment.</a:t>
            </a:r>
          </a:p>
          <a:p>
            <a:pPr algn="just">
              <a:lnSpc>
                <a:spcPts val="3006"/>
              </a:lnSpc>
            </a:pPr>
          </a:p>
        </p:txBody>
      </p:sp>
      <p:grpSp>
        <p:nvGrpSpPr>
          <p:cNvPr name="Group 4" id="4"/>
          <p:cNvGrpSpPr/>
          <p:nvPr/>
        </p:nvGrpSpPr>
        <p:grpSpPr>
          <a:xfrm rot="0">
            <a:off x="848630" y="1028700"/>
            <a:ext cx="5261406" cy="1518197"/>
            <a:chOff x="0" y="0"/>
            <a:chExt cx="7015207" cy="2024263"/>
          </a:xfrm>
        </p:grpSpPr>
        <p:sp>
          <p:nvSpPr>
            <p:cNvPr name="TextBox 5" id="5"/>
            <p:cNvSpPr txBox="true"/>
            <p:nvPr/>
          </p:nvSpPr>
          <p:spPr>
            <a:xfrm rot="0">
              <a:off x="0" y="0"/>
              <a:ext cx="7015207" cy="965200"/>
            </a:xfrm>
            <a:prstGeom prst="rect">
              <a:avLst/>
            </a:prstGeom>
          </p:spPr>
          <p:txBody>
            <a:bodyPr anchor="t" rtlCol="false" tIns="0" lIns="0" bIns="0" rIns="0">
              <a:spAutoFit/>
            </a:bodyPr>
            <a:lstStyle/>
            <a:p>
              <a:pPr algn="l">
                <a:lnSpc>
                  <a:spcPts val="5760"/>
                </a:lnSpc>
              </a:pPr>
              <a:r>
                <a:rPr lang="en-US" sz="4800">
                  <a:solidFill>
                    <a:srgbClr val="535D6B"/>
                  </a:solidFill>
                  <a:latin typeface="RoxboroughCF"/>
                  <a:ea typeface="RoxboroughCF"/>
                  <a:cs typeface="RoxboroughCF"/>
                  <a:sym typeface="RoxboroughCF"/>
                </a:rPr>
                <a:t>Abstract</a:t>
              </a:r>
            </a:p>
          </p:txBody>
        </p:sp>
        <p:sp>
          <p:nvSpPr>
            <p:cNvPr name="TextBox 6" id="6"/>
            <p:cNvSpPr txBox="true"/>
            <p:nvPr/>
          </p:nvSpPr>
          <p:spPr>
            <a:xfrm rot="0">
              <a:off x="0" y="1448310"/>
              <a:ext cx="7015207" cy="575953"/>
            </a:xfrm>
            <a:prstGeom prst="rect">
              <a:avLst/>
            </a:prstGeom>
          </p:spPr>
          <p:txBody>
            <a:bodyPr anchor="t" rtlCol="false" tIns="0" lIns="0" bIns="0" rIns="0">
              <a:spAutoFit/>
            </a:bodyPr>
            <a:lstStyle/>
            <a:p>
              <a:pPr algn="l">
                <a:lnSpc>
                  <a:spcPts val="3640"/>
                </a:lnSpc>
                <a:spcBef>
                  <a:spcPct val="0"/>
                </a:spcBef>
              </a:pPr>
            </a:p>
          </p:txBody>
        </p:sp>
      </p:grpSp>
    </p:spTree>
  </p:cSld>
  <p:clrMapOvr>
    <a:masterClrMapping/>
  </p:clrMapOvr>
</p:sld>
</file>

<file path=ppt/slides/slide3.xml><?xml version="1.0" encoding="utf-8"?>
<p:sld xmlns:p="http://schemas.openxmlformats.org/presentationml/2006/main" xmlns:a="http://schemas.openxmlformats.org/drawingml/2006/main">
  <p:cSld>
    <p:bg>
      <p:bgPr>
        <a:solidFill>
          <a:srgbClr val="F0F2F4"/>
        </a:solidFill>
      </p:bgPr>
    </p:bg>
    <p:spTree>
      <p:nvGrpSpPr>
        <p:cNvPr id="1" name=""/>
        <p:cNvGrpSpPr/>
        <p:nvPr/>
      </p:nvGrpSpPr>
      <p:grpSpPr>
        <a:xfrm>
          <a:off x="0" y="0"/>
          <a:ext cx="0" cy="0"/>
          <a:chOff x="0" y="0"/>
          <a:chExt cx="0" cy="0"/>
        </a:xfrm>
      </p:grpSpPr>
      <p:grpSp>
        <p:nvGrpSpPr>
          <p:cNvPr name="Group 2" id="2"/>
          <p:cNvGrpSpPr/>
          <p:nvPr/>
        </p:nvGrpSpPr>
        <p:grpSpPr>
          <a:xfrm rot="0">
            <a:off x="758590" y="679265"/>
            <a:ext cx="5261406" cy="1518197"/>
            <a:chOff x="0" y="0"/>
            <a:chExt cx="7015207" cy="2024263"/>
          </a:xfrm>
        </p:grpSpPr>
        <p:sp>
          <p:nvSpPr>
            <p:cNvPr name="TextBox 3" id="3"/>
            <p:cNvSpPr txBox="true"/>
            <p:nvPr/>
          </p:nvSpPr>
          <p:spPr>
            <a:xfrm rot="0">
              <a:off x="0" y="0"/>
              <a:ext cx="7015207" cy="965200"/>
            </a:xfrm>
            <a:prstGeom prst="rect">
              <a:avLst/>
            </a:prstGeom>
          </p:spPr>
          <p:txBody>
            <a:bodyPr anchor="t" rtlCol="false" tIns="0" lIns="0" bIns="0" rIns="0">
              <a:spAutoFit/>
            </a:bodyPr>
            <a:lstStyle/>
            <a:p>
              <a:pPr algn="l">
                <a:lnSpc>
                  <a:spcPts val="5760"/>
                </a:lnSpc>
              </a:pPr>
              <a:r>
                <a:rPr lang="en-US" sz="4800">
                  <a:solidFill>
                    <a:srgbClr val="535D6B"/>
                  </a:solidFill>
                  <a:latin typeface="RoxboroughCF"/>
                  <a:ea typeface="RoxboroughCF"/>
                  <a:cs typeface="RoxboroughCF"/>
                  <a:sym typeface="RoxboroughCF"/>
                </a:rPr>
                <a:t>Introduction</a:t>
              </a:r>
            </a:p>
          </p:txBody>
        </p:sp>
        <p:sp>
          <p:nvSpPr>
            <p:cNvPr name="TextBox 4" id="4"/>
            <p:cNvSpPr txBox="true"/>
            <p:nvPr/>
          </p:nvSpPr>
          <p:spPr>
            <a:xfrm rot="0">
              <a:off x="0" y="1448310"/>
              <a:ext cx="7015207" cy="575953"/>
            </a:xfrm>
            <a:prstGeom prst="rect">
              <a:avLst/>
            </a:prstGeom>
          </p:spPr>
          <p:txBody>
            <a:bodyPr anchor="t" rtlCol="false" tIns="0" lIns="0" bIns="0" rIns="0">
              <a:spAutoFit/>
            </a:bodyPr>
            <a:lstStyle/>
            <a:p>
              <a:pPr algn="l">
                <a:lnSpc>
                  <a:spcPts val="3640"/>
                </a:lnSpc>
                <a:spcBef>
                  <a:spcPct val="0"/>
                </a:spcBef>
              </a:pPr>
            </a:p>
          </p:txBody>
        </p:sp>
      </p:grpSp>
      <p:sp>
        <p:nvSpPr>
          <p:cNvPr name="TextBox 5" id="5"/>
          <p:cNvSpPr txBox="true"/>
          <p:nvPr/>
        </p:nvSpPr>
        <p:spPr>
          <a:xfrm rot="0">
            <a:off x="863365" y="5095875"/>
            <a:ext cx="5847214" cy="1085850"/>
          </a:xfrm>
          <a:prstGeom prst="rect">
            <a:avLst/>
          </a:prstGeom>
        </p:spPr>
        <p:txBody>
          <a:bodyPr anchor="t" rtlCol="false" tIns="0" lIns="0" bIns="0" rIns="0">
            <a:spAutoFit/>
          </a:bodyPr>
          <a:lstStyle/>
          <a:p>
            <a:pPr algn="just">
              <a:lnSpc>
                <a:spcPts val="2999"/>
              </a:lnSpc>
            </a:pPr>
            <a:r>
              <a:rPr lang="en-US" sz="1999" spc="19">
                <a:solidFill>
                  <a:srgbClr val="111B1E"/>
                </a:solidFill>
                <a:latin typeface="Poppins Medium"/>
                <a:ea typeface="Poppins Medium"/>
                <a:cs typeface="Poppins Medium"/>
                <a:sym typeface="Poppins Medium"/>
              </a:rPr>
              <a:t>  problem</a:t>
            </a:r>
          </a:p>
          <a:p>
            <a:pPr algn="just" marL="431799" indent="-215899" lvl="1">
              <a:lnSpc>
                <a:spcPts val="2999"/>
              </a:lnSpc>
              <a:buFont typeface="Arial"/>
              <a:buChar char="•"/>
            </a:pPr>
            <a:r>
              <a:rPr lang="en-US" sz="1999" spc="19">
                <a:solidFill>
                  <a:srgbClr val="111B1E"/>
                </a:solidFill>
                <a:latin typeface="Poppins Medium"/>
                <a:ea typeface="Poppins Medium"/>
                <a:cs typeface="Poppins Medium"/>
                <a:sym typeface="Poppins Medium"/>
              </a:rPr>
              <a:t>Game design is time-consuming.</a:t>
            </a:r>
          </a:p>
          <a:p>
            <a:pPr algn="just" marL="431799" indent="-215899" lvl="1">
              <a:lnSpc>
                <a:spcPts val="2999"/>
              </a:lnSpc>
              <a:buFont typeface="Arial"/>
              <a:buChar char="•"/>
            </a:pPr>
            <a:r>
              <a:rPr lang="en-US" sz="1999" spc="19">
                <a:solidFill>
                  <a:srgbClr val="111B1E"/>
                </a:solidFill>
                <a:latin typeface="Poppins Medium"/>
                <a:ea typeface="Poppins Medium"/>
                <a:cs typeface="Poppins Medium"/>
                <a:sym typeface="Poppins Medium"/>
              </a:rPr>
              <a:t>Manual level creation limits creativity.</a:t>
            </a:r>
          </a:p>
        </p:txBody>
      </p:sp>
      <p:sp>
        <p:nvSpPr>
          <p:cNvPr name="TextBox 6" id="6"/>
          <p:cNvSpPr txBox="true"/>
          <p:nvPr/>
        </p:nvSpPr>
        <p:spPr>
          <a:xfrm rot="0">
            <a:off x="880334" y="6343650"/>
            <a:ext cx="15729122" cy="2588895"/>
          </a:xfrm>
          <a:prstGeom prst="rect">
            <a:avLst/>
          </a:prstGeom>
        </p:spPr>
        <p:txBody>
          <a:bodyPr anchor="t" rtlCol="false" tIns="0" lIns="0" bIns="0" rIns="0">
            <a:spAutoFit/>
          </a:bodyPr>
          <a:lstStyle/>
          <a:p>
            <a:pPr algn="just">
              <a:lnSpc>
                <a:spcPts val="2999"/>
              </a:lnSpc>
            </a:pPr>
            <a:r>
              <a:rPr lang="en-US" sz="1999" spc="19">
                <a:solidFill>
                  <a:srgbClr val="111B1E"/>
                </a:solidFill>
                <a:latin typeface="Poppins Medium"/>
                <a:ea typeface="Poppins Medium"/>
                <a:cs typeface="Poppins Medium"/>
                <a:sym typeface="Poppins Medium"/>
              </a:rPr>
              <a:t>  solution</a:t>
            </a:r>
          </a:p>
          <a:p>
            <a:pPr algn="just" marL="431799" indent="-215899" lvl="1">
              <a:lnSpc>
                <a:spcPts val="2999"/>
              </a:lnSpc>
              <a:buFont typeface="Arial"/>
              <a:buChar char="•"/>
            </a:pPr>
            <a:r>
              <a:rPr lang="en-US" sz="1999" spc="19">
                <a:solidFill>
                  <a:srgbClr val="111B1E"/>
                </a:solidFill>
                <a:latin typeface="Poppins Medium"/>
                <a:ea typeface="Poppins Medium"/>
                <a:cs typeface="Poppins Medium"/>
                <a:sym typeface="Poppins Medium"/>
              </a:rPr>
              <a:t>Goal: Convert written stories into playable 2D games</a:t>
            </a:r>
          </a:p>
          <a:p>
            <a:pPr algn="just" marL="431799" indent="-215899" lvl="1">
              <a:lnSpc>
                <a:spcPts val="2999"/>
              </a:lnSpc>
              <a:buFont typeface="Arial"/>
              <a:buChar char="•"/>
            </a:pPr>
            <a:r>
              <a:rPr lang="en-US" sz="1999" spc="19">
                <a:solidFill>
                  <a:srgbClr val="111B1E"/>
                </a:solidFill>
                <a:latin typeface="Poppins Medium"/>
                <a:ea typeface="Poppins Medium"/>
                <a:cs typeface="Poppins Medium"/>
                <a:sym typeface="Poppins Medium"/>
              </a:rPr>
              <a:t>Scope: End-to-end pipeline from story input to game output</a:t>
            </a:r>
          </a:p>
          <a:p>
            <a:pPr algn="just" marL="431799" indent="-215899" lvl="1">
              <a:lnSpc>
                <a:spcPts val="2999"/>
              </a:lnSpc>
              <a:buFont typeface="Arial"/>
              <a:buChar char="•"/>
            </a:pPr>
            <a:r>
              <a:rPr lang="en-US" sz="1999" spc="19">
                <a:solidFill>
                  <a:srgbClr val="111B1E"/>
                </a:solidFill>
                <a:latin typeface="Poppins Medium"/>
                <a:ea typeface="Poppins Medium"/>
                <a:cs typeface="Poppins Medium"/>
                <a:sym typeface="Poppins Medium"/>
              </a:rPr>
              <a:t>Two genres supported: Knight Adventure &amp; Space Shooter</a:t>
            </a:r>
          </a:p>
          <a:p>
            <a:pPr algn="just" marL="431799" indent="-215899" lvl="1">
              <a:lnSpc>
                <a:spcPts val="2999"/>
              </a:lnSpc>
              <a:buFont typeface="Arial"/>
              <a:buChar char="•"/>
            </a:pPr>
            <a:r>
              <a:rPr lang="en-US" sz="1999" spc="19">
                <a:solidFill>
                  <a:srgbClr val="111B1E"/>
                </a:solidFill>
                <a:latin typeface="Poppins Medium"/>
                <a:ea typeface="Poppins Medium"/>
                <a:cs typeface="Poppins Medium"/>
                <a:sym typeface="Poppins Medium"/>
              </a:rPr>
              <a:t>Features: Levels, enemies, animations, and sounds</a:t>
            </a:r>
          </a:p>
          <a:p>
            <a:pPr algn="just" marL="431799" indent="-215899" lvl="1">
              <a:lnSpc>
                <a:spcPts val="2999"/>
              </a:lnSpc>
              <a:buFont typeface="Arial"/>
              <a:buChar char="•"/>
            </a:pPr>
            <a:r>
              <a:rPr lang="en-US" sz="1999" spc="19">
                <a:solidFill>
                  <a:srgbClr val="111B1E"/>
                </a:solidFill>
                <a:latin typeface="Poppins Medium"/>
                <a:ea typeface="Poppins Medium"/>
                <a:cs typeface="Poppins Medium"/>
                <a:sym typeface="Poppins Medium"/>
              </a:rPr>
              <a:t>Audience: Creative users, designers, and educators</a:t>
            </a:r>
          </a:p>
          <a:p>
            <a:pPr algn="just">
              <a:lnSpc>
                <a:spcPts val="3149"/>
              </a:lnSpc>
            </a:pPr>
          </a:p>
        </p:txBody>
      </p:sp>
      <p:sp>
        <p:nvSpPr>
          <p:cNvPr name="TextBox 7" id="7"/>
          <p:cNvSpPr txBox="true"/>
          <p:nvPr/>
        </p:nvSpPr>
        <p:spPr>
          <a:xfrm rot="0">
            <a:off x="1028700" y="1617673"/>
            <a:ext cx="15763059" cy="3314700"/>
          </a:xfrm>
          <a:prstGeom prst="rect">
            <a:avLst/>
          </a:prstGeom>
        </p:spPr>
        <p:txBody>
          <a:bodyPr anchor="t" rtlCol="false" tIns="0" lIns="0" bIns="0" rIns="0">
            <a:spAutoFit/>
          </a:bodyPr>
          <a:lstStyle/>
          <a:p>
            <a:pPr algn="just">
              <a:lnSpc>
                <a:spcPts val="2999"/>
              </a:lnSpc>
            </a:pPr>
            <a:r>
              <a:rPr lang="en-US" sz="1999" spc="19">
                <a:solidFill>
                  <a:srgbClr val="111B1E"/>
                </a:solidFill>
                <a:latin typeface="Poppins Medium"/>
                <a:ea typeface="Poppins Medium"/>
                <a:cs typeface="Poppins Medium"/>
                <a:sym typeface="Poppins Medium"/>
              </a:rPr>
              <a:t>Game development traditionally requires significant manual effort in designing levels, characters, and environments. This limits rapid prototyping and creativity for users who are not skilled in game design. On the other hand, storytelling is one of the most natural ways for people to express imagination.</a:t>
            </a:r>
          </a:p>
          <a:p>
            <a:pPr algn="just">
              <a:lnSpc>
                <a:spcPts val="2999"/>
              </a:lnSpc>
            </a:pPr>
            <a:r>
              <a:rPr lang="en-US" sz="1999" spc="19">
                <a:solidFill>
                  <a:srgbClr val="111B1E"/>
                </a:solidFill>
                <a:latin typeface="Poppins Medium"/>
                <a:ea typeface="Poppins Medium"/>
                <a:cs typeface="Poppins Medium"/>
                <a:sym typeface="Poppins Medium"/>
              </a:rPr>
              <a:t>The project StoryToGame: A Story-Based Game Generator bridges this gap by allowing users to provide a simple written story, which is then automatically converted into a playable 2D game. Using a combination of machine learning for story classification and Pygame for game generation, the system supports two genres: a Knight Adventure and a Space Shooter. Each genre features multiple levels, unique enemies, character animations, and sound effects, creating an engaging game experience from plain text input.</a:t>
            </a:r>
          </a:p>
          <a:p>
            <a:pPr algn="just">
              <a:lnSpc>
                <a:spcPts val="2999"/>
              </a:lnSpc>
            </a:pP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B8C6DD"/>
        </a:solidFill>
      </p:bgPr>
    </p:bg>
    <p:spTree>
      <p:nvGrpSpPr>
        <p:cNvPr id="1" name=""/>
        <p:cNvGrpSpPr/>
        <p:nvPr/>
      </p:nvGrpSpPr>
      <p:grpSpPr>
        <a:xfrm>
          <a:off x="0" y="0"/>
          <a:ext cx="0" cy="0"/>
          <a:chOff x="0" y="0"/>
          <a:chExt cx="0" cy="0"/>
        </a:xfrm>
      </p:grpSpPr>
      <p:grpSp>
        <p:nvGrpSpPr>
          <p:cNvPr name="Group 2" id="2"/>
          <p:cNvGrpSpPr/>
          <p:nvPr/>
        </p:nvGrpSpPr>
        <p:grpSpPr>
          <a:xfrm rot="0">
            <a:off x="781100" y="1033434"/>
            <a:ext cx="6696462" cy="1518197"/>
            <a:chOff x="0" y="0"/>
            <a:chExt cx="8928616" cy="2024263"/>
          </a:xfrm>
        </p:grpSpPr>
        <p:sp>
          <p:nvSpPr>
            <p:cNvPr name="TextBox 3" id="3"/>
            <p:cNvSpPr txBox="true"/>
            <p:nvPr/>
          </p:nvSpPr>
          <p:spPr>
            <a:xfrm rot="0">
              <a:off x="0" y="0"/>
              <a:ext cx="8928616" cy="965200"/>
            </a:xfrm>
            <a:prstGeom prst="rect">
              <a:avLst/>
            </a:prstGeom>
          </p:spPr>
          <p:txBody>
            <a:bodyPr anchor="t" rtlCol="false" tIns="0" lIns="0" bIns="0" rIns="0">
              <a:spAutoFit/>
            </a:bodyPr>
            <a:lstStyle/>
            <a:p>
              <a:pPr algn="l">
                <a:lnSpc>
                  <a:spcPts val="5760"/>
                </a:lnSpc>
              </a:pPr>
              <a:r>
                <a:rPr lang="en-US" sz="4800">
                  <a:solidFill>
                    <a:srgbClr val="535D6B"/>
                  </a:solidFill>
                  <a:latin typeface="RoxboroughCF"/>
                  <a:ea typeface="RoxboroughCF"/>
                  <a:cs typeface="RoxboroughCF"/>
                  <a:sym typeface="RoxboroughCF"/>
                </a:rPr>
                <a:t>Objectives</a:t>
              </a:r>
            </a:p>
          </p:txBody>
        </p:sp>
        <p:sp>
          <p:nvSpPr>
            <p:cNvPr name="TextBox 4" id="4"/>
            <p:cNvSpPr txBox="true"/>
            <p:nvPr/>
          </p:nvSpPr>
          <p:spPr>
            <a:xfrm rot="0">
              <a:off x="0" y="1448310"/>
              <a:ext cx="8928616" cy="575953"/>
            </a:xfrm>
            <a:prstGeom prst="rect">
              <a:avLst/>
            </a:prstGeom>
          </p:spPr>
          <p:txBody>
            <a:bodyPr anchor="t" rtlCol="false" tIns="0" lIns="0" bIns="0" rIns="0">
              <a:spAutoFit/>
            </a:bodyPr>
            <a:lstStyle/>
            <a:p>
              <a:pPr algn="l">
                <a:lnSpc>
                  <a:spcPts val="3640"/>
                </a:lnSpc>
                <a:spcBef>
                  <a:spcPct val="0"/>
                </a:spcBef>
              </a:pPr>
            </a:p>
          </p:txBody>
        </p:sp>
      </p:grpSp>
      <p:sp>
        <p:nvSpPr>
          <p:cNvPr name="TextBox 5" id="5"/>
          <p:cNvSpPr txBox="true"/>
          <p:nvPr/>
        </p:nvSpPr>
        <p:spPr>
          <a:xfrm rot="0">
            <a:off x="1279419" y="2427806"/>
            <a:ext cx="15729162" cy="3836799"/>
          </a:xfrm>
          <a:prstGeom prst="rect">
            <a:avLst/>
          </a:prstGeom>
        </p:spPr>
        <p:txBody>
          <a:bodyPr anchor="t" rtlCol="false" tIns="0" lIns="0" bIns="0" rIns="0">
            <a:spAutoFit/>
          </a:bodyPr>
          <a:lstStyle/>
          <a:p>
            <a:pPr algn="just">
              <a:lnSpc>
                <a:spcPts val="3882"/>
              </a:lnSpc>
            </a:pPr>
            <a:r>
              <a:rPr lang="en-US" sz="2098" spc="20">
                <a:solidFill>
                  <a:srgbClr val="111B1E"/>
                </a:solidFill>
                <a:latin typeface="Poppins Medium"/>
                <a:ea typeface="Poppins Medium"/>
                <a:cs typeface="Poppins Medium"/>
                <a:sym typeface="Poppins Medium"/>
              </a:rPr>
              <a:t>The main objectives of the StoryToGame project are:</a:t>
            </a:r>
          </a:p>
          <a:p>
            <a:pPr algn="just" marL="453052" indent="-226526" lvl="1">
              <a:lnSpc>
                <a:spcPts val="3882"/>
              </a:lnSpc>
              <a:buAutoNum type="arabicPeriod" startAt="1"/>
            </a:pPr>
            <a:r>
              <a:rPr lang="en-US" sz="2098" spc="20">
                <a:solidFill>
                  <a:srgbClr val="111B1E"/>
                </a:solidFill>
                <a:latin typeface="Poppins Medium"/>
                <a:ea typeface="Poppins Medium"/>
                <a:cs typeface="Poppins Medium"/>
                <a:sym typeface="Poppins Medium"/>
              </a:rPr>
              <a:t>To develop an AI-driven system that converts narrative text into a playable 2D game.</a:t>
            </a:r>
          </a:p>
          <a:p>
            <a:pPr algn="just" marL="453052" indent="-226526" lvl="1">
              <a:lnSpc>
                <a:spcPts val="3882"/>
              </a:lnSpc>
              <a:buAutoNum type="arabicPeriod" startAt="1"/>
            </a:pPr>
            <a:r>
              <a:rPr lang="en-US" sz="2098" spc="20">
                <a:solidFill>
                  <a:srgbClr val="111B1E"/>
                </a:solidFill>
                <a:latin typeface="Poppins Medium"/>
                <a:ea typeface="Poppins Medium"/>
                <a:cs typeface="Poppins Medium"/>
                <a:sym typeface="Poppins Medium"/>
              </a:rPr>
              <a:t>To classify user stories into specific genres (Knight Adventure or Space Shooter) using ML and keyword-based methods.</a:t>
            </a:r>
          </a:p>
          <a:p>
            <a:pPr algn="just" marL="453052" indent="-226526" lvl="1">
              <a:lnSpc>
                <a:spcPts val="3882"/>
              </a:lnSpc>
              <a:buAutoNum type="arabicPeriod" startAt="1"/>
            </a:pPr>
            <a:r>
              <a:rPr lang="en-US" sz="2098" spc="20">
                <a:solidFill>
                  <a:srgbClr val="111B1E"/>
                </a:solidFill>
                <a:latin typeface="Poppins Medium"/>
                <a:ea typeface="Poppins Medium"/>
                <a:cs typeface="Poppins Medium"/>
                <a:sym typeface="Poppins Medium"/>
              </a:rPr>
              <a:t>To design automated level generation with enemies, backgrounds, and progression based on the story.</a:t>
            </a:r>
          </a:p>
          <a:p>
            <a:pPr algn="just" marL="453052" indent="-226526" lvl="1">
              <a:lnSpc>
                <a:spcPts val="3882"/>
              </a:lnSpc>
              <a:buAutoNum type="arabicPeriod" startAt="1"/>
            </a:pPr>
            <a:r>
              <a:rPr lang="en-US" sz="2098" spc="20">
                <a:solidFill>
                  <a:srgbClr val="111B1E"/>
                </a:solidFill>
                <a:latin typeface="Poppins Medium"/>
                <a:ea typeface="Poppins Medium"/>
                <a:cs typeface="Poppins Medium"/>
                <a:sym typeface="Poppins Medium"/>
              </a:rPr>
              <a:t>To implement character animations, enemy AI, and sound effects for an engaging experience.</a:t>
            </a:r>
          </a:p>
          <a:p>
            <a:pPr algn="just" marL="453052" indent="-226526" lvl="1">
              <a:lnSpc>
                <a:spcPts val="3882"/>
              </a:lnSpc>
              <a:buAutoNum type="arabicPeriod" startAt="1"/>
            </a:pPr>
            <a:r>
              <a:rPr lang="en-US" sz="2098" spc="20">
                <a:solidFill>
                  <a:srgbClr val="111B1E"/>
                </a:solidFill>
                <a:latin typeface="Poppins Medium"/>
                <a:ea typeface="Poppins Medium"/>
                <a:cs typeface="Poppins Medium"/>
                <a:sym typeface="Poppins Medium"/>
              </a:rPr>
              <a:t>To create a user-friendly interface for story input and game generation.</a:t>
            </a:r>
          </a:p>
          <a:p>
            <a:pPr algn="just">
              <a:lnSpc>
                <a:spcPts val="3882"/>
              </a:lnSpc>
            </a:pP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0F2F4"/>
        </a:solidFill>
      </p:bgPr>
    </p:bg>
    <p:spTree>
      <p:nvGrpSpPr>
        <p:cNvPr id="1" name=""/>
        <p:cNvGrpSpPr/>
        <p:nvPr/>
      </p:nvGrpSpPr>
      <p:grpSpPr>
        <a:xfrm>
          <a:off x="0" y="0"/>
          <a:ext cx="0" cy="0"/>
          <a:chOff x="0" y="0"/>
          <a:chExt cx="0" cy="0"/>
        </a:xfrm>
      </p:grpSpPr>
      <p:sp>
        <p:nvSpPr>
          <p:cNvPr name="AutoShape 2" id="2"/>
          <p:cNvSpPr/>
          <p:nvPr/>
        </p:nvSpPr>
        <p:spPr>
          <a:xfrm rot="-5400000">
            <a:off x="-1152614" y="4575511"/>
            <a:ext cx="5794549" cy="9525"/>
          </a:xfrm>
          <a:prstGeom prst="rect">
            <a:avLst/>
          </a:prstGeom>
          <a:solidFill>
            <a:srgbClr val="111B1E"/>
          </a:solidFill>
        </p:spPr>
      </p:sp>
      <p:sp>
        <p:nvSpPr>
          <p:cNvPr name="TextBox 3" id="3"/>
          <p:cNvSpPr txBox="true"/>
          <p:nvPr/>
        </p:nvSpPr>
        <p:spPr>
          <a:xfrm rot="0">
            <a:off x="1980709" y="1635374"/>
            <a:ext cx="5279133" cy="414825"/>
          </a:xfrm>
          <a:prstGeom prst="rect">
            <a:avLst/>
          </a:prstGeom>
        </p:spPr>
        <p:txBody>
          <a:bodyPr anchor="t" rtlCol="false" tIns="0" lIns="0" bIns="0" rIns="0">
            <a:spAutoFit/>
          </a:bodyPr>
          <a:lstStyle/>
          <a:p>
            <a:pPr algn="l" marL="522113" indent="-261056" lvl="1">
              <a:lnSpc>
                <a:spcPts val="3385"/>
              </a:lnSpc>
              <a:spcBef>
                <a:spcPct val="0"/>
              </a:spcBef>
              <a:buAutoNum type="arabicPeriod" startAt="1"/>
            </a:pPr>
            <a:r>
              <a:rPr lang="en-US" sz="2418" spc="24">
                <a:solidFill>
                  <a:srgbClr val="535D6B"/>
                </a:solidFill>
                <a:latin typeface="Poppins Medium"/>
                <a:ea typeface="Poppins Medium"/>
                <a:cs typeface="Poppins Medium"/>
                <a:sym typeface="Poppins Medium"/>
              </a:rPr>
              <a:t> User Input </a:t>
            </a:r>
          </a:p>
        </p:txBody>
      </p:sp>
      <p:sp>
        <p:nvSpPr>
          <p:cNvPr name="TextBox 4" id="4"/>
          <p:cNvSpPr txBox="true"/>
          <p:nvPr/>
        </p:nvSpPr>
        <p:spPr>
          <a:xfrm rot="0">
            <a:off x="1891720" y="3398039"/>
            <a:ext cx="3619944" cy="405765"/>
          </a:xfrm>
          <a:prstGeom prst="rect">
            <a:avLst/>
          </a:prstGeom>
        </p:spPr>
        <p:txBody>
          <a:bodyPr anchor="t" rtlCol="false" tIns="0" lIns="0" bIns="0" rIns="0">
            <a:spAutoFit/>
          </a:bodyPr>
          <a:lstStyle/>
          <a:p>
            <a:pPr algn="l">
              <a:lnSpc>
                <a:spcPts val="3360"/>
              </a:lnSpc>
              <a:spcBef>
                <a:spcPct val="0"/>
              </a:spcBef>
            </a:pPr>
            <a:r>
              <a:rPr lang="en-US" sz="2400" spc="24">
                <a:solidFill>
                  <a:srgbClr val="535D6B"/>
                </a:solidFill>
                <a:latin typeface="Poppins Medium"/>
                <a:ea typeface="Poppins Medium"/>
                <a:cs typeface="Poppins Medium"/>
                <a:sym typeface="Poppins Medium"/>
              </a:rPr>
              <a:t>    2. </a:t>
            </a:r>
            <a:r>
              <a:rPr lang="en-US" sz="2400" spc="24">
                <a:solidFill>
                  <a:srgbClr val="535D6B"/>
                </a:solidFill>
                <a:latin typeface="Poppins Medium"/>
                <a:ea typeface="Poppins Medium"/>
                <a:cs typeface="Poppins Medium"/>
                <a:sym typeface="Poppins Medium"/>
              </a:rPr>
              <a:t>Preprocessing</a:t>
            </a:r>
          </a:p>
        </p:txBody>
      </p:sp>
      <p:grpSp>
        <p:nvGrpSpPr>
          <p:cNvPr name="Group 5" id="5"/>
          <p:cNvGrpSpPr>
            <a:grpSpLocks noChangeAspect="true"/>
          </p:cNvGrpSpPr>
          <p:nvPr/>
        </p:nvGrpSpPr>
        <p:grpSpPr>
          <a:xfrm rot="-5400000">
            <a:off x="1588075" y="1682999"/>
            <a:ext cx="303645" cy="303645"/>
            <a:chOff x="-2540" y="-2540"/>
            <a:chExt cx="6355080" cy="6355080"/>
          </a:xfrm>
        </p:grpSpPr>
        <p:sp>
          <p:nvSpPr>
            <p:cNvPr name="Freeform 6" id="6"/>
            <p:cNvSpPr/>
            <p:nvPr/>
          </p:nvSpPr>
          <p:spPr>
            <a:xfrm flipH="false" flipV="false" rot="0">
              <a:off x="-2540" y="-254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111B1E"/>
            </a:solidFill>
          </p:spPr>
        </p:sp>
      </p:grpSp>
      <p:sp>
        <p:nvSpPr>
          <p:cNvPr name="TextBox 7" id="7"/>
          <p:cNvSpPr txBox="true"/>
          <p:nvPr/>
        </p:nvSpPr>
        <p:spPr>
          <a:xfrm rot="0">
            <a:off x="784476" y="666750"/>
            <a:ext cx="5261406" cy="723900"/>
          </a:xfrm>
          <a:prstGeom prst="rect">
            <a:avLst/>
          </a:prstGeom>
        </p:spPr>
        <p:txBody>
          <a:bodyPr anchor="t" rtlCol="false" tIns="0" lIns="0" bIns="0" rIns="0">
            <a:spAutoFit/>
          </a:bodyPr>
          <a:lstStyle/>
          <a:p>
            <a:pPr algn="l">
              <a:lnSpc>
                <a:spcPts val="5760"/>
              </a:lnSpc>
            </a:pPr>
            <a:r>
              <a:rPr lang="en-US" sz="4800">
                <a:solidFill>
                  <a:srgbClr val="535D6B"/>
                </a:solidFill>
                <a:latin typeface="RoxboroughCF"/>
                <a:ea typeface="RoxboroughCF"/>
                <a:cs typeface="RoxboroughCF"/>
                <a:sym typeface="RoxboroughCF"/>
              </a:rPr>
              <a:t>System </a:t>
            </a:r>
            <a:r>
              <a:rPr lang="en-US" sz="4800">
                <a:solidFill>
                  <a:srgbClr val="535D6B"/>
                </a:solidFill>
                <a:latin typeface="RoxboroughCF"/>
                <a:ea typeface="RoxboroughCF"/>
                <a:cs typeface="RoxboroughCF"/>
                <a:sym typeface="RoxboroughCF"/>
              </a:rPr>
              <a:t>Workflow</a:t>
            </a:r>
          </a:p>
        </p:txBody>
      </p:sp>
      <p:grpSp>
        <p:nvGrpSpPr>
          <p:cNvPr name="Group 8" id="8"/>
          <p:cNvGrpSpPr>
            <a:grpSpLocks noChangeAspect="true"/>
          </p:cNvGrpSpPr>
          <p:nvPr/>
        </p:nvGrpSpPr>
        <p:grpSpPr>
          <a:xfrm rot="0">
            <a:off x="1588075" y="5143500"/>
            <a:ext cx="303645" cy="303645"/>
            <a:chOff x="-2540" y="-2540"/>
            <a:chExt cx="6355080" cy="6355080"/>
          </a:xfrm>
        </p:grpSpPr>
        <p:sp>
          <p:nvSpPr>
            <p:cNvPr name="Freeform 9" id="9"/>
            <p:cNvSpPr/>
            <p:nvPr/>
          </p:nvSpPr>
          <p:spPr>
            <a:xfrm flipH="false" flipV="false" rot="0">
              <a:off x="-2540" y="-254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111B1E"/>
            </a:solidFill>
          </p:spPr>
        </p:sp>
      </p:grpSp>
      <p:grpSp>
        <p:nvGrpSpPr>
          <p:cNvPr name="Group 10" id="10"/>
          <p:cNvGrpSpPr>
            <a:grpSpLocks noChangeAspect="true"/>
          </p:cNvGrpSpPr>
          <p:nvPr/>
        </p:nvGrpSpPr>
        <p:grpSpPr>
          <a:xfrm rot="-5400000">
            <a:off x="1588075" y="3402951"/>
            <a:ext cx="303645" cy="303645"/>
            <a:chOff x="-2540" y="-2540"/>
            <a:chExt cx="6355080" cy="6355080"/>
          </a:xfrm>
        </p:grpSpPr>
        <p:sp>
          <p:nvSpPr>
            <p:cNvPr name="Freeform 11" id="11"/>
            <p:cNvSpPr/>
            <p:nvPr/>
          </p:nvSpPr>
          <p:spPr>
            <a:xfrm flipH="false" flipV="false" rot="0">
              <a:off x="-2540" y="-254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111B1E"/>
            </a:solidFill>
          </p:spPr>
        </p:sp>
      </p:grpSp>
      <p:sp>
        <p:nvSpPr>
          <p:cNvPr name="TextBox 12" id="12"/>
          <p:cNvSpPr txBox="true"/>
          <p:nvPr/>
        </p:nvSpPr>
        <p:spPr>
          <a:xfrm rot="0">
            <a:off x="2440797" y="2139412"/>
            <a:ext cx="6338762" cy="925830"/>
          </a:xfrm>
          <a:prstGeom prst="rect">
            <a:avLst/>
          </a:prstGeom>
        </p:spPr>
        <p:txBody>
          <a:bodyPr anchor="t" rtlCol="false" tIns="0" lIns="0" bIns="0" rIns="0">
            <a:spAutoFit/>
          </a:bodyPr>
          <a:lstStyle/>
          <a:p>
            <a:pPr algn="l" marL="388622" indent="-194311" lvl="1">
              <a:lnSpc>
                <a:spcPts val="2520"/>
              </a:lnSpc>
              <a:buFont typeface="Arial"/>
              <a:buChar char="•"/>
            </a:pPr>
            <a:r>
              <a:rPr lang="en-US" sz="1800" spc="18">
                <a:solidFill>
                  <a:srgbClr val="000000"/>
                </a:solidFill>
                <a:latin typeface="Poppins Light"/>
                <a:ea typeface="Poppins Light"/>
                <a:cs typeface="Poppins Light"/>
                <a:sym typeface="Poppins Light"/>
              </a:rPr>
              <a:t>"User story (Tkinter text box)"</a:t>
            </a:r>
          </a:p>
          <a:p>
            <a:pPr algn="l" marL="388622" indent="-194311" lvl="1">
              <a:lnSpc>
                <a:spcPts val="2520"/>
              </a:lnSpc>
              <a:buFont typeface="Arial"/>
              <a:buChar char="•"/>
            </a:pPr>
            <a:r>
              <a:rPr lang="en-US" sz="1800" spc="18">
                <a:solidFill>
                  <a:srgbClr val="000000"/>
                </a:solidFill>
                <a:latin typeface="Poppins Light"/>
                <a:ea typeface="Poppins Light"/>
                <a:cs typeface="Poppins Light"/>
                <a:sym typeface="Poppins Light"/>
              </a:rPr>
              <a:t> </a:t>
            </a:r>
            <a:r>
              <a:rPr lang="en-US" sz="1800" spc="18">
                <a:solidFill>
                  <a:srgbClr val="000000"/>
                </a:solidFill>
                <a:latin typeface="Poppins Light"/>
                <a:ea typeface="Poppins Light"/>
                <a:cs typeface="Poppins Light"/>
                <a:sym typeface="Poppins Light"/>
              </a:rPr>
              <a:t>text or keyboard</a:t>
            </a:r>
          </a:p>
          <a:p>
            <a:pPr algn="l">
              <a:lnSpc>
                <a:spcPts val="2520"/>
              </a:lnSpc>
              <a:spcBef>
                <a:spcPct val="0"/>
              </a:spcBef>
            </a:pPr>
          </a:p>
        </p:txBody>
      </p:sp>
      <p:sp>
        <p:nvSpPr>
          <p:cNvPr name="TextBox 13" id="13"/>
          <p:cNvSpPr txBox="true"/>
          <p:nvPr/>
        </p:nvSpPr>
        <p:spPr>
          <a:xfrm rot="0">
            <a:off x="2440797" y="3929967"/>
            <a:ext cx="6338762" cy="925830"/>
          </a:xfrm>
          <a:prstGeom prst="rect">
            <a:avLst/>
          </a:prstGeom>
        </p:spPr>
        <p:txBody>
          <a:bodyPr anchor="t" rtlCol="false" tIns="0" lIns="0" bIns="0" rIns="0">
            <a:spAutoFit/>
          </a:bodyPr>
          <a:lstStyle/>
          <a:p>
            <a:pPr algn="l" marL="388622" indent="-194311" lvl="1">
              <a:lnSpc>
                <a:spcPts val="2520"/>
              </a:lnSpc>
              <a:buFont typeface="Arial"/>
              <a:buChar char="•"/>
            </a:pPr>
            <a:r>
              <a:rPr lang="en-US" sz="1800" spc="18">
                <a:solidFill>
                  <a:srgbClr val="000000"/>
                </a:solidFill>
                <a:latin typeface="Poppins Light"/>
                <a:ea typeface="Poppins Light"/>
                <a:cs typeface="Poppins Light"/>
                <a:sym typeface="Poppins Light"/>
              </a:rPr>
              <a:t>"Text cleaning &amp; TF-IDF vectorization"</a:t>
            </a:r>
          </a:p>
          <a:p>
            <a:pPr algn="l" marL="388622" indent="-194311" lvl="1">
              <a:lnSpc>
                <a:spcPts val="2520"/>
              </a:lnSpc>
              <a:buFont typeface="Arial"/>
              <a:buChar char="•"/>
            </a:pPr>
            <a:r>
              <a:rPr lang="en-US" sz="1800" spc="18">
                <a:solidFill>
                  <a:srgbClr val="000000"/>
                </a:solidFill>
                <a:latin typeface="Poppins Light"/>
                <a:ea typeface="Poppins Light"/>
                <a:cs typeface="Poppins Light"/>
                <a:sym typeface="Poppins Light"/>
              </a:rPr>
              <a:t>"tokenize, lowercase, remove stopwords"</a:t>
            </a:r>
          </a:p>
          <a:p>
            <a:pPr algn="l">
              <a:lnSpc>
                <a:spcPts val="2520"/>
              </a:lnSpc>
              <a:spcBef>
                <a:spcPct val="0"/>
              </a:spcBef>
            </a:pPr>
          </a:p>
        </p:txBody>
      </p:sp>
      <p:sp>
        <p:nvSpPr>
          <p:cNvPr name="TextBox 14" id="14"/>
          <p:cNvSpPr txBox="true"/>
          <p:nvPr/>
        </p:nvSpPr>
        <p:spPr>
          <a:xfrm rot="0">
            <a:off x="2047384" y="5103447"/>
            <a:ext cx="4790466" cy="405765"/>
          </a:xfrm>
          <a:prstGeom prst="rect">
            <a:avLst/>
          </a:prstGeom>
        </p:spPr>
        <p:txBody>
          <a:bodyPr anchor="t" rtlCol="false" tIns="0" lIns="0" bIns="0" rIns="0">
            <a:spAutoFit/>
          </a:bodyPr>
          <a:lstStyle/>
          <a:p>
            <a:pPr algn="ctr">
              <a:lnSpc>
                <a:spcPts val="3360"/>
              </a:lnSpc>
              <a:spcBef>
                <a:spcPct val="0"/>
              </a:spcBef>
            </a:pPr>
            <a:r>
              <a:rPr lang="en-US" sz="2400" spc="24">
                <a:solidFill>
                  <a:srgbClr val="535D6B"/>
                </a:solidFill>
                <a:latin typeface="Poppins Medium"/>
                <a:ea typeface="Poppins Medium"/>
                <a:cs typeface="Poppins Medium"/>
                <a:sym typeface="Poppins Medium"/>
              </a:rPr>
              <a:t> 3. Classifier / Keyword Rules</a:t>
            </a:r>
          </a:p>
        </p:txBody>
      </p:sp>
      <p:sp>
        <p:nvSpPr>
          <p:cNvPr name="TextBox 15" id="15"/>
          <p:cNvSpPr txBox="true"/>
          <p:nvPr/>
        </p:nvSpPr>
        <p:spPr>
          <a:xfrm rot="0">
            <a:off x="2399433" y="5633037"/>
            <a:ext cx="6338762" cy="1240155"/>
          </a:xfrm>
          <a:prstGeom prst="rect">
            <a:avLst/>
          </a:prstGeom>
        </p:spPr>
        <p:txBody>
          <a:bodyPr anchor="t" rtlCol="false" tIns="0" lIns="0" bIns="0" rIns="0">
            <a:spAutoFit/>
          </a:bodyPr>
          <a:lstStyle/>
          <a:p>
            <a:pPr algn="l" marL="388622" indent="-194311" lvl="1">
              <a:lnSpc>
                <a:spcPts val="2520"/>
              </a:lnSpc>
              <a:buFont typeface="Arial"/>
              <a:buChar char="•"/>
            </a:pPr>
            <a:r>
              <a:rPr lang="en-US" sz="1800" spc="18">
                <a:solidFill>
                  <a:srgbClr val="000000"/>
                </a:solidFill>
                <a:latin typeface="Poppins Light"/>
                <a:ea typeface="Poppins Light"/>
                <a:cs typeface="Poppins Light"/>
                <a:sym typeface="Poppins Light"/>
              </a:rPr>
              <a:t>"ML model → Genre?"</a:t>
            </a:r>
          </a:p>
          <a:p>
            <a:pPr algn="l" marL="388622" indent="-194311" lvl="1">
              <a:lnSpc>
                <a:spcPts val="2520"/>
              </a:lnSpc>
              <a:buFont typeface="Arial"/>
              <a:buChar char="•"/>
            </a:pPr>
            <a:r>
              <a:rPr lang="en-US" sz="1800" spc="18">
                <a:solidFill>
                  <a:srgbClr val="000000"/>
                </a:solidFill>
                <a:latin typeface="Poppins Light"/>
                <a:ea typeface="Poppins Light"/>
                <a:cs typeface="Poppins Light"/>
                <a:sym typeface="Poppins Light"/>
              </a:rPr>
              <a:t>Space and Knight</a:t>
            </a:r>
          </a:p>
          <a:p>
            <a:pPr algn="l" marL="388622" indent="-194311" lvl="1">
              <a:lnSpc>
                <a:spcPts val="2520"/>
              </a:lnSpc>
              <a:buFont typeface="Arial"/>
              <a:buChar char="•"/>
            </a:pPr>
            <a:r>
              <a:rPr lang="en-US" sz="1800" spc="18">
                <a:solidFill>
                  <a:srgbClr val="000000"/>
                </a:solidFill>
                <a:latin typeface="Poppins Light"/>
                <a:ea typeface="Poppins Light"/>
                <a:cs typeface="Poppins Light"/>
                <a:sym typeface="Poppins Light"/>
              </a:rPr>
              <a:t>fallback to keyword rules if model confidence low</a:t>
            </a:r>
          </a:p>
          <a:p>
            <a:pPr algn="l">
              <a:lnSpc>
                <a:spcPts val="2520"/>
              </a:lnSpc>
              <a:spcBef>
                <a:spcPct val="0"/>
              </a:spcBef>
            </a:pPr>
          </a:p>
        </p:txBody>
      </p:sp>
      <p:sp>
        <p:nvSpPr>
          <p:cNvPr name="TextBox 16" id="16"/>
          <p:cNvSpPr txBox="true"/>
          <p:nvPr/>
        </p:nvSpPr>
        <p:spPr>
          <a:xfrm rot="0">
            <a:off x="2037859" y="7270759"/>
            <a:ext cx="3128017" cy="405765"/>
          </a:xfrm>
          <a:prstGeom prst="rect">
            <a:avLst/>
          </a:prstGeom>
        </p:spPr>
        <p:txBody>
          <a:bodyPr anchor="t" rtlCol="false" tIns="0" lIns="0" bIns="0" rIns="0">
            <a:spAutoFit/>
          </a:bodyPr>
          <a:lstStyle/>
          <a:p>
            <a:pPr algn="ctr">
              <a:lnSpc>
                <a:spcPts val="3360"/>
              </a:lnSpc>
              <a:spcBef>
                <a:spcPct val="0"/>
              </a:spcBef>
            </a:pPr>
            <a:r>
              <a:rPr lang="en-US" sz="2400" spc="24">
                <a:solidFill>
                  <a:srgbClr val="535D6B"/>
                </a:solidFill>
                <a:latin typeface="Poppins Medium"/>
                <a:ea typeface="Poppins Medium"/>
                <a:cs typeface="Poppins Medium"/>
                <a:sym typeface="Poppins Medium"/>
              </a:rPr>
              <a:t>4. Asset Mapping</a:t>
            </a:r>
          </a:p>
        </p:txBody>
      </p:sp>
      <p:sp>
        <p:nvSpPr>
          <p:cNvPr name="TextBox 17" id="17"/>
          <p:cNvSpPr txBox="true"/>
          <p:nvPr/>
        </p:nvSpPr>
        <p:spPr>
          <a:xfrm rot="0">
            <a:off x="2342283" y="7812357"/>
            <a:ext cx="6338762" cy="1240155"/>
          </a:xfrm>
          <a:prstGeom prst="rect">
            <a:avLst/>
          </a:prstGeom>
        </p:spPr>
        <p:txBody>
          <a:bodyPr anchor="t" rtlCol="false" tIns="0" lIns="0" bIns="0" rIns="0">
            <a:spAutoFit/>
          </a:bodyPr>
          <a:lstStyle/>
          <a:p>
            <a:pPr algn="l" marL="388622" indent="-194311" lvl="1">
              <a:lnSpc>
                <a:spcPts val="2520"/>
              </a:lnSpc>
              <a:buFont typeface="Arial"/>
              <a:buChar char="•"/>
            </a:pPr>
            <a:r>
              <a:rPr lang="en-US" sz="1800" spc="18">
                <a:solidFill>
                  <a:srgbClr val="000000"/>
                </a:solidFill>
                <a:latin typeface="Poppins Light"/>
                <a:ea typeface="Poppins Light"/>
                <a:cs typeface="Poppins Light"/>
                <a:sym typeface="Poppins Light"/>
              </a:rPr>
              <a:t>Knight branch: "Map to knight sprites, tiles, sounds"</a:t>
            </a:r>
          </a:p>
          <a:p>
            <a:pPr algn="l" marL="388622" indent="-194311" lvl="1">
              <a:lnSpc>
                <a:spcPts val="2520"/>
              </a:lnSpc>
              <a:buFont typeface="Arial"/>
              <a:buChar char="•"/>
            </a:pPr>
            <a:r>
              <a:rPr lang="en-US" sz="1800" spc="18">
                <a:solidFill>
                  <a:srgbClr val="000000"/>
                </a:solidFill>
                <a:latin typeface="Poppins Light"/>
                <a:ea typeface="Poppins Light"/>
                <a:cs typeface="Poppins Light"/>
                <a:sym typeface="Poppins Light"/>
              </a:rPr>
              <a:t>Space branch: "Map to space sprites, background, SFX"</a:t>
            </a:r>
          </a:p>
          <a:p>
            <a:pPr algn="l">
              <a:lnSpc>
                <a:spcPts val="2520"/>
              </a:lnSpc>
              <a:spcBef>
                <a:spcPct val="0"/>
              </a:spcBef>
            </a:pPr>
          </a:p>
        </p:txBody>
      </p:sp>
      <p:grpSp>
        <p:nvGrpSpPr>
          <p:cNvPr name="Group 18" id="18"/>
          <p:cNvGrpSpPr>
            <a:grpSpLocks noChangeAspect="true"/>
          </p:cNvGrpSpPr>
          <p:nvPr/>
        </p:nvGrpSpPr>
        <p:grpSpPr>
          <a:xfrm rot="0">
            <a:off x="1588075" y="7345632"/>
            <a:ext cx="303645" cy="303645"/>
            <a:chOff x="-2540" y="-2540"/>
            <a:chExt cx="6355080" cy="6355080"/>
          </a:xfrm>
        </p:grpSpPr>
        <p:sp>
          <p:nvSpPr>
            <p:cNvPr name="Freeform 19" id="19"/>
            <p:cNvSpPr/>
            <p:nvPr/>
          </p:nvSpPr>
          <p:spPr>
            <a:xfrm flipH="false" flipV="false" rot="0">
              <a:off x="-2540" y="-254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000000"/>
            </a:solidFill>
          </p:spPr>
        </p:sp>
      </p:grpSp>
      <p:sp>
        <p:nvSpPr>
          <p:cNvPr name="AutoShape 20" id="20"/>
          <p:cNvSpPr/>
          <p:nvPr/>
        </p:nvSpPr>
        <p:spPr>
          <a:xfrm rot="-5400000">
            <a:off x="8005909" y="4897675"/>
            <a:ext cx="3674390" cy="9525"/>
          </a:xfrm>
          <a:prstGeom prst="rect">
            <a:avLst/>
          </a:prstGeom>
          <a:solidFill>
            <a:srgbClr val="111B1E"/>
          </a:solidFill>
        </p:spPr>
      </p:sp>
      <p:sp>
        <p:nvSpPr>
          <p:cNvPr name="TextBox 21" id="21"/>
          <p:cNvSpPr txBox="true"/>
          <p:nvPr/>
        </p:nvSpPr>
        <p:spPr>
          <a:xfrm rot="0">
            <a:off x="10079153" y="3017617"/>
            <a:ext cx="5279133" cy="414825"/>
          </a:xfrm>
          <a:prstGeom prst="rect">
            <a:avLst/>
          </a:prstGeom>
        </p:spPr>
        <p:txBody>
          <a:bodyPr anchor="t" rtlCol="false" tIns="0" lIns="0" bIns="0" rIns="0">
            <a:spAutoFit/>
          </a:bodyPr>
          <a:lstStyle/>
          <a:p>
            <a:pPr algn="l">
              <a:lnSpc>
                <a:spcPts val="3385"/>
              </a:lnSpc>
              <a:spcBef>
                <a:spcPct val="0"/>
              </a:spcBef>
            </a:pPr>
            <a:r>
              <a:rPr lang="en-US" sz="2418" spc="24">
                <a:solidFill>
                  <a:srgbClr val="535D6B"/>
                </a:solidFill>
                <a:latin typeface="Poppins Medium"/>
                <a:ea typeface="Poppins Medium"/>
                <a:cs typeface="Poppins Medium"/>
                <a:sym typeface="Poppins Medium"/>
              </a:rPr>
              <a:t>   5. Level &amp; Enemy Generator </a:t>
            </a:r>
          </a:p>
        </p:txBody>
      </p:sp>
      <p:sp>
        <p:nvSpPr>
          <p:cNvPr name="TextBox 22" id="22"/>
          <p:cNvSpPr txBox="true"/>
          <p:nvPr/>
        </p:nvSpPr>
        <p:spPr>
          <a:xfrm rot="0">
            <a:off x="9990164" y="4780282"/>
            <a:ext cx="4946130" cy="405765"/>
          </a:xfrm>
          <a:prstGeom prst="rect">
            <a:avLst/>
          </a:prstGeom>
        </p:spPr>
        <p:txBody>
          <a:bodyPr anchor="t" rtlCol="false" tIns="0" lIns="0" bIns="0" rIns="0">
            <a:spAutoFit/>
          </a:bodyPr>
          <a:lstStyle/>
          <a:p>
            <a:pPr algn="l">
              <a:lnSpc>
                <a:spcPts val="3360"/>
              </a:lnSpc>
              <a:spcBef>
                <a:spcPct val="0"/>
              </a:spcBef>
            </a:pPr>
            <a:r>
              <a:rPr lang="en-US" sz="2400" spc="24">
                <a:solidFill>
                  <a:srgbClr val="535D6B"/>
                </a:solidFill>
                <a:latin typeface="Poppins Medium"/>
                <a:ea typeface="Poppins Medium"/>
                <a:cs typeface="Poppins Medium"/>
                <a:sym typeface="Poppins Medium"/>
              </a:rPr>
              <a:t>    6. Pygame Engine (Runtime)</a:t>
            </a:r>
          </a:p>
        </p:txBody>
      </p:sp>
      <p:grpSp>
        <p:nvGrpSpPr>
          <p:cNvPr name="Group 23" id="23"/>
          <p:cNvGrpSpPr>
            <a:grpSpLocks noChangeAspect="true"/>
          </p:cNvGrpSpPr>
          <p:nvPr/>
        </p:nvGrpSpPr>
        <p:grpSpPr>
          <a:xfrm rot="-5400000">
            <a:off x="9686519" y="3065242"/>
            <a:ext cx="303645" cy="303645"/>
            <a:chOff x="-2540" y="-2540"/>
            <a:chExt cx="6355080" cy="6355080"/>
          </a:xfrm>
        </p:grpSpPr>
        <p:sp>
          <p:nvSpPr>
            <p:cNvPr name="Freeform 24" id="24"/>
            <p:cNvSpPr/>
            <p:nvPr/>
          </p:nvSpPr>
          <p:spPr>
            <a:xfrm flipH="false" flipV="false" rot="0">
              <a:off x="-2540" y="-254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111B1E"/>
            </a:solidFill>
          </p:spPr>
        </p:sp>
      </p:grpSp>
      <p:grpSp>
        <p:nvGrpSpPr>
          <p:cNvPr name="Group 25" id="25"/>
          <p:cNvGrpSpPr>
            <a:grpSpLocks noChangeAspect="true"/>
          </p:cNvGrpSpPr>
          <p:nvPr/>
        </p:nvGrpSpPr>
        <p:grpSpPr>
          <a:xfrm rot="0">
            <a:off x="9686519" y="6525743"/>
            <a:ext cx="303645" cy="303645"/>
            <a:chOff x="-2540" y="-2540"/>
            <a:chExt cx="6355080" cy="6355080"/>
          </a:xfrm>
        </p:grpSpPr>
        <p:sp>
          <p:nvSpPr>
            <p:cNvPr name="Freeform 26" id="26"/>
            <p:cNvSpPr/>
            <p:nvPr/>
          </p:nvSpPr>
          <p:spPr>
            <a:xfrm flipH="false" flipV="false" rot="0">
              <a:off x="-2540" y="-254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111B1E"/>
            </a:solidFill>
          </p:spPr>
        </p:sp>
      </p:grpSp>
      <p:grpSp>
        <p:nvGrpSpPr>
          <p:cNvPr name="Group 27" id="27"/>
          <p:cNvGrpSpPr>
            <a:grpSpLocks noChangeAspect="true"/>
          </p:cNvGrpSpPr>
          <p:nvPr/>
        </p:nvGrpSpPr>
        <p:grpSpPr>
          <a:xfrm rot="-5400000">
            <a:off x="9686519" y="4785193"/>
            <a:ext cx="303645" cy="303645"/>
            <a:chOff x="-2540" y="-2540"/>
            <a:chExt cx="6355080" cy="6355080"/>
          </a:xfrm>
        </p:grpSpPr>
        <p:sp>
          <p:nvSpPr>
            <p:cNvPr name="Freeform 28" id="28"/>
            <p:cNvSpPr/>
            <p:nvPr/>
          </p:nvSpPr>
          <p:spPr>
            <a:xfrm flipH="false" flipV="false" rot="0">
              <a:off x="-2540" y="-254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111B1E"/>
            </a:solidFill>
          </p:spPr>
        </p:sp>
      </p:grpSp>
      <p:sp>
        <p:nvSpPr>
          <p:cNvPr name="TextBox 29" id="29"/>
          <p:cNvSpPr txBox="true"/>
          <p:nvPr/>
        </p:nvSpPr>
        <p:spPr>
          <a:xfrm rot="0">
            <a:off x="10539240" y="3521655"/>
            <a:ext cx="6338762" cy="297180"/>
          </a:xfrm>
          <a:prstGeom prst="rect">
            <a:avLst/>
          </a:prstGeom>
        </p:spPr>
        <p:txBody>
          <a:bodyPr anchor="t" rtlCol="false" tIns="0" lIns="0" bIns="0" rIns="0">
            <a:spAutoFit/>
          </a:bodyPr>
          <a:lstStyle/>
          <a:p>
            <a:pPr algn="l" marL="388622" indent="-194311" lvl="1">
              <a:lnSpc>
                <a:spcPts val="2520"/>
              </a:lnSpc>
              <a:buFont typeface="Arial"/>
              <a:buChar char="•"/>
            </a:pPr>
            <a:r>
              <a:rPr lang="en-US" sz="1800" spc="18">
                <a:solidFill>
                  <a:srgbClr val="000000"/>
                </a:solidFill>
                <a:latin typeface="Poppins Light"/>
                <a:ea typeface="Poppins Light"/>
                <a:cs typeface="Poppins Light"/>
                <a:sym typeface="Poppins Light"/>
              </a:rPr>
              <a:t>Generate levels, place enemies, set waves/difficulty</a:t>
            </a:r>
          </a:p>
        </p:txBody>
      </p:sp>
      <p:sp>
        <p:nvSpPr>
          <p:cNvPr name="TextBox 30" id="30"/>
          <p:cNvSpPr txBox="true"/>
          <p:nvPr/>
        </p:nvSpPr>
        <p:spPr>
          <a:xfrm rot="0">
            <a:off x="10539240" y="5312210"/>
            <a:ext cx="6338762" cy="611505"/>
          </a:xfrm>
          <a:prstGeom prst="rect">
            <a:avLst/>
          </a:prstGeom>
        </p:spPr>
        <p:txBody>
          <a:bodyPr anchor="t" rtlCol="false" tIns="0" lIns="0" bIns="0" rIns="0">
            <a:spAutoFit/>
          </a:bodyPr>
          <a:lstStyle/>
          <a:p>
            <a:pPr algn="l" marL="388622" indent="-194311" lvl="1">
              <a:lnSpc>
                <a:spcPts val="2520"/>
              </a:lnSpc>
              <a:buFont typeface="Arial"/>
              <a:buChar char="•"/>
            </a:pPr>
            <a:r>
              <a:rPr lang="en-US" sz="1800" spc="18">
                <a:solidFill>
                  <a:srgbClr val="000000"/>
                </a:solidFill>
                <a:latin typeface="Poppins Light"/>
                <a:ea typeface="Poppins Light"/>
                <a:cs typeface="Poppins Light"/>
                <a:sym typeface="Poppins Light"/>
              </a:rPr>
              <a:t>Render scenes, handle input, run physics &amp; collisions, play SFX"</a:t>
            </a:r>
          </a:p>
        </p:txBody>
      </p:sp>
      <p:sp>
        <p:nvSpPr>
          <p:cNvPr name="TextBox 31" id="31"/>
          <p:cNvSpPr txBox="true"/>
          <p:nvPr/>
        </p:nvSpPr>
        <p:spPr>
          <a:xfrm rot="0">
            <a:off x="9686519" y="6457115"/>
            <a:ext cx="4790466" cy="405765"/>
          </a:xfrm>
          <a:prstGeom prst="rect">
            <a:avLst/>
          </a:prstGeom>
        </p:spPr>
        <p:txBody>
          <a:bodyPr anchor="t" rtlCol="false" tIns="0" lIns="0" bIns="0" rIns="0">
            <a:spAutoFit/>
          </a:bodyPr>
          <a:lstStyle/>
          <a:p>
            <a:pPr algn="ctr">
              <a:lnSpc>
                <a:spcPts val="3360"/>
              </a:lnSpc>
              <a:spcBef>
                <a:spcPct val="0"/>
              </a:spcBef>
            </a:pPr>
            <a:r>
              <a:rPr lang="en-US" sz="2400" spc="24">
                <a:solidFill>
                  <a:srgbClr val="535D6B"/>
                </a:solidFill>
                <a:latin typeface="Poppins Medium"/>
                <a:ea typeface="Poppins Medium"/>
                <a:cs typeface="Poppins Medium"/>
                <a:sym typeface="Poppins Medium"/>
              </a:rPr>
              <a:t>7. Output / Gameplay </a:t>
            </a:r>
          </a:p>
        </p:txBody>
      </p:sp>
      <p:sp>
        <p:nvSpPr>
          <p:cNvPr name="TextBox 32" id="32"/>
          <p:cNvSpPr txBox="true"/>
          <p:nvPr/>
        </p:nvSpPr>
        <p:spPr>
          <a:xfrm rot="0">
            <a:off x="10497876" y="7015280"/>
            <a:ext cx="6338762" cy="297180"/>
          </a:xfrm>
          <a:prstGeom prst="rect">
            <a:avLst/>
          </a:prstGeom>
        </p:spPr>
        <p:txBody>
          <a:bodyPr anchor="t" rtlCol="false" tIns="0" lIns="0" bIns="0" rIns="0">
            <a:spAutoFit/>
          </a:bodyPr>
          <a:lstStyle/>
          <a:p>
            <a:pPr algn="l" marL="388622" indent="-194311" lvl="1">
              <a:lnSpc>
                <a:spcPts val="2520"/>
              </a:lnSpc>
              <a:buFont typeface="Arial"/>
              <a:buChar char="•"/>
            </a:pPr>
            <a:r>
              <a:rPr lang="en-US" sz="1800" spc="18">
                <a:solidFill>
                  <a:srgbClr val="000000"/>
                </a:solidFill>
                <a:latin typeface="Poppins Light"/>
                <a:ea typeface="Poppins Light"/>
                <a:cs typeface="Poppins Light"/>
                <a:sym typeface="Poppins Light"/>
              </a:rPr>
              <a:t>"Playable game levels — user plays and advances"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0F2F4"/>
        </a:solidFill>
      </p:bgPr>
    </p:bg>
    <p:spTree>
      <p:nvGrpSpPr>
        <p:cNvPr id="1" name=""/>
        <p:cNvGrpSpPr/>
        <p:nvPr/>
      </p:nvGrpSpPr>
      <p:grpSpPr>
        <a:xfrm>
          <a:off x="0" y="0"/>
          <a:ext cx="0" cy="0"/>
          <a:chOff x="0" y="0"/>
          <a:chExt cx="0" cy="0"/>
        </a:xfrm>
      </p:grpSpPr>
      <p:sp>
        <p:nvSpPr>
          <p:cNvPr name="Freeform 2" id="2"/>
          <p:cNvSpPr/>
          <p:nvPr/>
        </p:nvSpPr>
        <p:spPr>
          <a:xfrm flipH="false" flipV="false" rot="0">
            <a:off x="891931" y="2366817"/>
            <a:ext cx="5144422" cy="7191824"/>
          </a:xfrm>
          <a:custGeom>
            <a:avLst/>
            <a:gdLst/>
            <a:ahLst/>
            <a:cxnLst/>
            <a:rect r="r" b="b" t="t" l="l"/>
            <a:pathLst>
              <a:path h="7191824" w="5144422">
                <a:moveTo>
                  <a:pt x="0" y="0"/>
                </a:moveTo>
                <a:lnTo>
                  <a:pt x="5144422" y="0"/>
                </a:lnTo>
                <a:lnTo>
                  <a:pt x="5144422" y="7191824"/>
                </a:lnTo>
                <a:lnTo>
                  <a:pt x="0" y="7191824"/>
                </a:lnTo>
                <a:lnTo>
                  <a:pt x="0" y="0"/>
                </a:lnTo>
                <a:close/>
              </a:path>
            </a:pathLst>
          </a:custGeom>
          <a:blipFill>
            <a:blip r:embed="rId2"/>
            <a:stretch>
              <a:fillRect l="0" t="0" r="0" b="0"/>
            </a:stretch>
          </a:blipFill>
        </p:spPr>
      </p:sp>
      <p:sp>
        <p:nvSpPr>
          <p:cNvPr name="Freeform 3" id="3"/>
          <p:cNvSpPr/>
          <p:nvPr/>
        </p:nvSpPr>
        <p:spPr>
          <a:xfrm flipH="false" flipV="false" rot="0">
            <a:off x="10205917" y="2076948"/>
            <a:ext cx="4332443" cy="7790612"/>
          </a:xfrm>
          <a:custGeom>
            <a:avLst/>
            <a:gdLst/>
            <a:ahLst/>
            <a:cxnLst/>
            <a:rect r="r" b="b" t="t" l="l"/>
            <a:pathLst>
              <a:path h="7790612" w="4332443">
                <a:moveTo>
                  <a:pt x="0" y="0"/>
                </a:moveTo>
                <a:lnTo>
                  <a:pt x="4332443" y="0"/>
                </a:lnTo>
                <a:lnTo>
                  <a:pt x="4332443" y="7790612"/>
                </a:lnTo>
                <a:lnTo>
                  <a:pt x="0" y="7790612"/>
                </a:lnTo>
                <a:lnTo>
                  <a:pt x="0" y="0"/>
                </a:lnTo>
                <a:close/>
              </a:path>
            </a:pathLst>
          </a:custGeom>
          <a:blipFill>
            <a:blip r:embed="rId3"/>
            <a:stretch>
              <a:fillRect l="0" t="0" r="-1148" b="0"/>
            </a:stretch>
          </a:blipFill>
        </p:spPr>
      </p:sp>
      <p:grpSp>
        <p:nvGrpSpPr>
          <p:cNvPr name="Group 4" id="4"/>
          <p:cNvGrpSpPr/>
          <p:nvPr/>
        </p:nvGrpSpPr>
        <p:grpSpPr>
          <a:xfrm rot="0">
            <a:off x="891931" y="666750"/>
            <a:ext cx="4091741" cy="1518197"/>
            <a:chOff x="0" y="0"/>
            <a:chExt cx="5455654" cy="2024263"/>
          </a:xfrm>
        </p:grpSpPr>
        <p:sp>
          <p:nvSpPr>
            <p:cNvPr name="TextBox 5" id="5"/>
            <p:cNvSpPr txBox="true"/>
            <p:nvPr/>
          </p:nvSpPr>
          <p:spPr>
            <a:xfrm rot="0">
              <a:off x="0" y="0"/>
              <a:ext cx="5455654" cy="965200"/>
            </a:xfrm>
            <a:prstGeom prst="rect">
              <a:avLst/>
            </a:prstGeom>
          </p:spPr>
          <p:txBody>
            <a:bodyPr anchor="t" rtlCol="false" tIns="0" lIns="0" bIns="0" rIns="0">
              <a:spAutoFit/>
            </a:bodyPr>
            <a:lstStyle/>
            <a:p>
              <a:pPr algn="l">
                <a:lnSpc>
                  <a:spcPts val="5760"/>
                </a:lnSpc>
              </a:pPr>
              <a:r>
                <a:rPr lang="en-US" sz="4800">
                  <a:solidFill>
                    <a:srgbClr val="535D6B"/>
                  </a:solidFill>
                  <a:latin typeface="RoxboroughCF"/>
                  <a:ea typeface="RoxboroughCF"/>
                  <a:cs typeface="RoxboroughCF"/>
                  <a:sym typeface="RoxboroughCF"/>
                </a:rPr>
                <a:t>ML Workflow</a:t>
              </a:r>
            </a:p>
          </p:txBody>
        </p:sp>
        <p:sp>
          <p:nvSpPr>
            <p:cNvPr name="TextBox 6" id="6"/>
            <p:cNvSpPr txBox="true"/>
            <p:nvPr/>
          </p:nvSpPr>
          <p:spPr>
            <a:xfrm rot="0">
              <a:off x="0" y="1448310"/>
              <a:ext cx="5455654" cy="575953"/>
            </a:xfrm>
            <a:prstGeom prst="rect">
              <a:avLst/>
            </a:prstGeom>
          </p:spPr>
          <p:txBody>
            <a:bodyPr anchor="t" rtlCol="false" tIns="0" lIns="0" bIns="0" rIns="0">
              <a:spAutoFit/>
            </a:bodyPr>
            <a:lstStyle/>
            <a:p>
              <a:pPr algn="l">
                <a:lnSpc>
                  <a:spcPts val="3640"/>
                </a:lnSpc>
                <a:spcBef>
                  <a:spcPct val="0"/>
                </a:spcBef>
              </a:pPr>
            </a:p>
          </p:txBody>
        </p:sp>
      </p:grpSp>
      <p:grpSp>
        <p:nvGrpSpPr>
          <p:cNvPr name="Group 7" id="7"/>
          <p:cNvGrpSpPr/>
          <p:nvPr/>
        </p:nvGrpSpPr>
        <p:grpSpPr>
          <a:xfrm rot="0">
            <a:off x="10205917" y="666750"/>
            <a:ext cx="5825014" cy="2242097"/>
            <a:chOff x="0" y="0"/>
            <a:chExt cx="7766685" cy="2989463"/>
          </a:xfrm>
        </p:grpSpPr>
        <p:sp>
          <p:nvSpPr>
            <p:cNvPr name="TextBox 8" id="8"/>
            <p:cNvSpPr txBox="true"/>
            <p:nvPr/>
          </p:nvSpPr>
          <p:spPr>
            <a:xfrm rot="0">
              <a:off x="0" y="0"/>
              <a:ext cx="7766685" cy="1930400"/>
            </a:xfrm>
            <a:prstGeom prst="rect">
              <a:avLst/>
            </a:prstGeom>
          </p:spPr>
          <p:txBody>
            <a:bodyPr anchor="t" rtlCol="false" tIns="0" lIns="0" bIns="0" rIns="0">
              <a:spAutoFit/>
            </a:bodyPr>
            <a:lstStyle/>
            <a:p>
              <a:pPr algn="l">
                <a:lnSpc>
                  <a:spcPts val="5760"/>
                </a:lnSpc>
              </a:pPr>
              <a:r>
                <a:rPr lang="en-US" sz="4800">
                  <a:solidFill>
                    <a:srgbClr val="535D6B"/>
                  </a:solidFill>
                  <a:latin typeface="RoxboroughCF"/>
                  <a:ea typeface="RoxboroughCF"/>
                  <a:cs typeface="RoxboroughCF"/>
                  <a:sym typeface="RoxboroughCF"/>
                </a:rPr>
                <a:t>System Workflow</a:t>
              </a:r>
            </a:p>
            <a:p>
              <a:pPr algn="l">
                <a:lnSpc>
                  <a:spcPts val="5760"/>
                </a:lnSpc>
              </a:pPr>
              <a:r>
                <a:rPr lang="en-US" sz="4800">
                  <a:solidFill>
                    <a:srgbClr val="535D6B"/>
                  </a:solidFill>
                  <a:latin typeface="RoxboroughCF"/>
                  <a:ea typeface="RoxboroughCF"/>
                  <a:cs typeface="RoxboroughCF"/>
                  <a:sym typeface="RoxboroughCF"/>
                </a:rPr>
                <a:t>(Process)</a:t>
              </a:r>
            </a:p>
          </p:txBody>
        </p:sp>
        <p:sp>
          <p:nvSpPr>
            <p:cNvPr name="TextBox 9" id="9"/>
            <p:cNvSpPr txBox="true"/>
            <p:nvPr/>
          </p:nvSpPr>
          <p:spPr>
            <a:xfrm rot="0">
              <a:off x="0" y="2413510"/>
              <a:ext cx="7766685" cy="575953"/>
            </a:xfrm>
            <a:prstGeom prst="rect">
              <a:avLst/>
            </a:prstGeom>
          </p:spPr>
          <p:txBody>
            <a:bodyPr anchor="t" rtlCol="false" tIns="0" lIns="0" bIns="0" rIns="0">
              <a:spAutoFit/>
            </a:bodyPr>
            <a:lstStyle/>
            <a:p>
              <a:pPr algn="l">
                <a:lnSpc>
                  <a:spcPts val="3640"/>
                </a:lnSpc>
                <a:spcBef>
                  <a:spcPct val="0"/>
                </a:spcBef>
              </a:pPr>
            </a:p>
          </p:txBody>
        </p:sp>
      </p:grpSp>
    </p:spTree>
  </p:cSld>
  <p:clrMapOvr>
    <a:masterClrMapping/>
  </p:clrMapOvr>
</p:sld>
</file>

<file path=ppt/slides/slide7.xml><?xml version="1.0" encoding="utf-8"?>
<p:sld xmlns:p="http://schemas.openxmlformats.org/presentationml/2006/main" xmlns:a="http://schemas.openxmlformats.org/drawingml/2006/main">
  <p:cSld>
    <p:bg>
      <p:bgPr>
        <a:solidFill>
          <a:srgbClr val="B8C6DD"/>
        </a:solidFill>
      </p:bgPr>
    </p:bg>
    <p:spTree>
      <p:nvGrpSpPr>
        <p:cNvPr id="1" name=""/>
        <p:cNvGrpSpPr/>
        <p:nvPr/>
      </p:nvGrpSpPr>
      <p:grpSpPr>
        <a:xfrm>
          <a:off x="0" y="0"/>
          <a:ext cx="0" cy="0"/>
          <a:chOff x="0" y="0"/>
          <a:chExt cx="0" cy="0"/>
        </a:xfrm>
      </p:grpSpPr>
      <p:sp>
        <p:nvSpPr>
          <p:cNvPr name="TextBox 2" id="2"/>
          <p:cNvSpPr txBox="true"/>
          <p:nvPr/>
        </p:nvSpPr>
        <p:spPr>
          <a:xfrm rot="0">
            <a:off x="758590" y="679265"/>
            <a:ext cx="6696462" cy="723900"/>
          </a:xfrm>
          <a:prstGeom prst="rect">
            <a:avLst/>
          </a:prstGeom>
        </p:spPr>
        <p:txBody>
          <a:bodyPr anchor="t" rtlCol="false" tIns="0" lIns="0" bIns="0" rIns="0">
            <a:spAutoFit/>
          </a:bodyPr>
          <a:lstStyle/>
          <a:p>
            <a:pPr algn="l">
              <a:lnSpc>
                <a:spcPts val="5760"/>
              </a:lnSpc>
            </a:pPr>
            <a:r>
              <a:rPr lang="en-US" sz="4800">
                <a:solidFill>
                  <a:srgbClr val="535D6B"/>
                </a:solidFill>
                <a:latin typeface="RoxboroughCF"/>
                <a:ea typeface="RoxboroughCF"/>
                <a:cs typeface="RoxboroughCF"/>
                <a:sym typeface="RoxboroughCF"/>
              </a:rPr>
              <a:t>Tools and Technologies</a:t>
            </a:r>
          </a:p>
        </p:txBody>
      </p:sp>
      <p:sp>
        <p:nvSpPr>
          <p:cNvPr name="TextBox 3" id="3"/>
          <p:cNvSpPr txBox="true"/>
          <p:nvPr/>
        </p:nvSpPr>
        <p:spPr>
          <a:xfrm rot="0">
            <a:off x="1028700" y="1615083"/>
            <a:ext cx="15729122" cy="7409180"/>
          </a:xfrm>
          <a:prstGeom prst="rect">
            <a:avLst/>
          </a:prstGeom>
        </p:spPr>
        <p:txBody>
          <a:bodyPr anchor="t" rtlCol="false" tIns="0" lIns="0" bIns="0" rIns="0">
            <a:spAutoFit/>
          </a:bodyPr>
          <a:lstStyle/>
          <a:p>
            <a:pPr algn="just">
              <a:lnSpc>
                <a:spcPts val="3459"/>
              </a:lnSpc>
            </a:pPr>
          </a:p>
          <a:p>
            <a:pPr algn="just" marL="431799" indent="-215899" lvl="1">
              <a:lnSpc>
                <a:spcPts val="3459"/>
              </a:lnSpc>
              <a:buAutoNum type="arabicPeriod" startAt="1"/>
            </a:pPr>
            <a:r>
              <a:rPr lang="en-US" sz="1999" spc="19">
                <a:solidFill>
                  <a:srgbClr val="111B1E"/>
                </a:solidFill>
                <a:latin typeface="Poppins Medium"/>
                <a:ea typeface="Poppins Medium"/>
                <a:cs typeface="Poppins Medium"/>
                <a:sym typeface="Poppins Medium"/>
              </a:rPr>
              <a:t>Programming Language:</a:t>
            </a:r>
          </a:p>
          <a:p>
            <a:pPr algn="just" marL="863598" indent="-287866" lvl="2">
              <a:lnSpc>
                <a:spcPts val="3459"/>
              </a:lnSpc>
              <a:buFont typeface="Arial"/>
              <a:buChar char="⚬"/>
            </a:pPr>
            <a:r>
              <a:rPr lang="en-US" sz="1999" spc="19">
                <a:solidFill>
                  <a:srgbClr val="111B1E"/>
                </a:solidFill>
                <a:latin typeface="Poppins Medium"/>
                <a:ea typeface="Poppins Medium"/>
                <a:cs typeface="Poppins Medium"/>
                <a:sym typeface="Poppins Medium"/>
              </a:rPr>
              <a:t>Python – chosen for its simplicity and extensive library support in both ML and game development.</a:t>
            </a:r>
          </a:p>
          <a:p>
            <a:pPr algn="just" marL="431799" indent="-215899" lvl="1">
              <a:lnSpc>
                <a:spcPts val="3459"/>
              </a:lnSpc>
              <a:buAutoNum type="arabicPeriod" startAt="1"/>
            </a:pPr>
            <a:r>
              <a:rPr lang="en-US" sz="1999" spc="19">
                <a:solidFill>
                  <a:srgbClr val="111B1E"/>
                </a:solidFill>
                <a:latin typeface="Poppins Medium"/>
                <a:ea typeface="Poppins Medium"/>
                <a:cs typeface="Poppins Medium"/>
                <a:sym typeface="Poppins Medium"/>
              </a:rPr>
              <a:t>Libraries &amp; Frameworks:</a:t>
            </a:r>
          </a:p>
          <a:p>
            <a:pPr algn="just" marL="863598" indent="-287866" lvl="2">
              <a:lnSpc>
                <a:spcPts val="3459"/>
              </a:lnSpc>
              <a:buFont typeface="Arial"/>
              <a:buChar char="⚬"/>
            </a:pPr>
            <a:r>
              <a:rPr lang="en-US" sz="1999" spc="19">
                <a:solidFill>
                  <a:srgbClr val="111B1E"/>
                </a:solidFill>
                <a:latin typeface="Poppins Medium"/>
                <a:ea typeface="Poppins Medium"/>
                <a:cs typeface="Poppins Medium"/>
                <a:sym typeface="Poppins Medium"/>
              </a:rPr>
              <a:t>Pygame – for building the 2D game engine, animations, collision detection, and rendering.</a:t>
            </a:r>
          </a:p>
          <a:p>
            <a:pPr algn="just" marL="863598" indent="-287866" lvl="2">
              <a:lnSpc>
                <a:spcPts val="3459"/>
              </a:lnSpc>
              <a:buFont typeface="Arial"/>
              <a:buChar char="⚬"/>
            </a:pPr>
            <a:r>
              <a:rPr lang="en-US" sz="1999" spc="19">
                <a:solidFill>
                  <a:srgbClr val="111B1E"/>
                </a:solidFill>
                <a:latin typeface="Poppins Medium"/>
                <a:ea typeface="Poppins Medium"/>
                <a:cs typeface="Poppins Medium"/>
                <a:sym typeface="Poppins Medium"/>
              </a:rPr>
              <a:t>Scikit-learn – for training and deploying the machine learning model used in story classification.</a:t>
            </a:r>
          </a:p>
          <a:p>
            <a:pPr algn="just" marL="863598" indent="-287866" lvl="2">
              <a:lnSpc>
                <a:spcPts val="3459"/>
              </a:lnSpc>
              <a:buFont typeface="Arial"/>
              <a:buChar char="⚬"/>
            </a:pPr>
            <a:r>
              <a:rPr lang="en-US" sz="1999" spc="19">
                <a:solidFill>
                  <a:srgbClr val="111B1E"/>
                </a:solidFill>
                <a:latin typeface="Poppins Medium"/>
                <a:ea typeface="Poppins Medium"/>
                <a:cs typeface="Poppins Medium"/>
                <a:sym typeface="Poppins Medium"/>
              </a:rPr>
              <a:t>Joblib – for model persistence (saving/loading trained ML models).</a:t>
            </a:r>
          </a:p>
          <a:p>
            <a:pPr algn="just" marL="863598" indent="-287866" lvl="2">
              <a:lnSpc>
                <a:spcPts val="3459"/>
              </a:lnSpc>
              <a:buFont typeface="Arial"/>
              <a:buChar char="⚬"/>
            </a:pPr>
            <a:r>
              <a:rPr lang="en-US" sz="1999" spc="19">
                <a:solidFill>
                  <a:srgbClr val="111B1E"/>
                </a:solidFill>
                <a:latin typeface="Poppins Medium"/>
                <a:ea typeface="Poppins Medium"/>
                <a:cs typeface="Poppins Medium"/>
                <a:sym typeface="Poppins Medium"/>
              </a:rPr>
              <a:t>Tkinter – for building a simple GUI window to collect user story input.</a:t>
            </a:r>
          </a:p>
          <a:p>
            <a:pPr algn="just" marL="431799" indent="-215899" lvl="1">
              <a:lnSpc>
                <a:spcPts val="3459"/>
              </a:lnSpc>
              <a:buAutoNum type="arabicPeriod" startAt="1"/>
            </a:pPr>
            <a:r>
              <a:rPr lang="en-US" sz="1999" spc="19">
                <a:solidFill>
                  <a:srgbClr val="111B1E"/>
                </a:solidFill>
                <a:latin typeface="Poppins Medium"/>
                <a:ea typeface="Poppins Medium"/>
                <a:cs typeface="Poppins Medium"/>
                <a:sym typeface="Poppins Medium"/>
              </a:rPr>
              <a:t>Datasets:</a:t>
            </a:r>
          </a:p>
          <a:p>
            <a:pPr algn="just" marL="863598" indent="-287866" lvl="2">
              <a:lnSpc>
                <a:spcPts val="3459"/>
              </a:lnSpc>
              <a:buFont typeface="Arial"/>
              <a:buChar char="⚬"/>
            </a:pPr>
            <a:r>
              <a:rPr lang="en-US" sz="1999" spc="19">
                <a:solidFill>
                  <a:srgbClr val="111B1E"/>
                </a:solidFill>
                <a:latin typeface="Poppins Medium"/>
                <a:ea typeface="Poppins Medium"/>
                <a:cs typeface="Poppins Medium"/>
                <a:sym typeface="Poppins Medium"/>
              </a:rPr>
              <a:t>WritingPrompts (Kaggle) – narrative text dataset used for training story classification.</a:t>
            </a:r>
          </a:p>
          <a:p>
            <a:pPr algn="just" marL="431799" indent="-215899" lvl="1">
              <a:lnSpc>
                <a:spcPts val="3459"/>
              </a:lnSpc>
              <a:buAutoNum type="arabicPeriod" startAt="1"/>
            </a:pPr>
            <a:r>
              <a:rPr lang="en-US" sz="1999" spc="19">
                <a:solidFill>
                  <a:srgbClr val="111B1E"/>
                </a:solidFill>
                <a:latin typeface="Poppins Medium"/>
                <a:ea typeface="Poppins Medium"/>
                <a:cs typeface="Poppins Medium"/>
                <a:sym typeface="Poppins Medium"/>
              </a:rPr>
              <a:t>Assets:</a:t>
            </a:r>
          </a:p>
          <a:p>
            <a:pPr algn="just" marL="863598" indent="-287866" lvl="2">
              <a:lnSpc>
                <a:spcPts val="3459"/>
              </a:lnSpc>
              <a:buFont typeface="Arial"/>
              <a:buChar char="⚬"/>
            </a:pPr>
            <a:r>
              <a:rPr lang="en-US" sz="1999" spc="19">
                <a:solidFill>
                  <a:srgbClr val="111B1E"/>
                </a:solidFill>
                <a:latin typeface="Poppins Medium"/>
                <a:ea typeface="Poppins Medium"/>
                <a:cs typeface="Poppins Medium"/>
                <a:sym typeface="Poppins Medium"/>
              </a:rPr>
              <a:t>Sprites, tilesets, and sound effects (sourced from Craftpix, Pixabay, Mixkit, and other free resources).</a:t>
            </a:r>
          </a:p>
          <a:p>
            <a:pPr algn="just" marL="431799" indent="-215899" lvl="1">
              <a:lnSpc>
                <a:spcPts val="3459"/>
              </a:lnSpc>
              <a:buAutoNum type="arabicPeriod" startAt="1"/>
            </a:pPr>
            <a:r>
              <a:rPr lang="en-US" sz="1999" spc="19">
                <a:solidFill>
                  <a:srgbClr val="111B1E"/>
                </a:solidFill>
                <a:latin typeface="Poppins Medium"/>
                <a:ea typeface="Poppins Medium"/>
                <a:cs typeface="Poppins Medium"/>
                <a:sym typeface="Poppins Medium"/>
              </a:rPr>
              <a:t>Development Environment:</a:t>
            </a:r>
          </a:p>
          <a:p>
            <a:pPr algn="just" marL="863598" indent="-287866" lvl="2">
              <a:lnSpc>
                <a:spcPts val="3459"/>
              </a:lnSpc>
              <a:buFont typeface="Arial"/>
              <a:buChar char="⚬"/>
            </a:pPr>
            <a:r>
              <a:rPr lang="en-US" sz="1999" spc="19">
                <a:solidFill>
                  <a:srgbClr val="111B1E"/>
                </a:solidFill>
                <a:latin typeface="Poppins Medium"/>
                <a:ea typeface="Poppins Medium"/>
                <a:cs typeface="Poppins Medium"/>
                <a:sym typeface="Poppins Medium"/>
              </a:rPr>
              <a:t>Visual Studio Code (VS Code) – code editing and debugging.</a:t>
            </a:r>
          </a:p>
          <a:p>
            <a:pPr algn="just" marL="863598" indent="-287866" lvl="2">
              <a:lnSpc>
                <a:spcPts val="3459"/>
              </a:lnSpc>
              <a:buFont typeface="Arial"/>
              <a:buChar char="⚬"/>
            </a:pPr>
            <a:r>
              <a:rPr lang="en-US" sz="1999" spc="19">
                <a:solidFill>
                  <a:srgbClr val="111B1E"/>
                </a:solidFill>
                <a:latin typeface="Poppins Medium"/>
                <a:ea typeface="Poppins Medium"/>
                <a:cs typeface="Poppins Medium"/>
                <a:sym typeface="Poppins Medium"/>
              </a:rPr>
              <a:t>Google Colab – used for ML model training and experimentation.</a:t>
            </a:r>
          </a:p>
          <a:p>
            <a:pPr algn="just" marL="863598" indent="-287866" lvl="2">
              <a:lnSpc>
                <a:spcPts val="3459"/>
              </a:lnSpc>
              <a:buFont typeface="Arial"/>
              <a:buChar char="⚬"/>
            </a:pPr>
            <a:r>
              <a:rPr lang="en-US" sz="1999" spc="19">
                <a:solidFill>
                  <a:srgbClr val="111B1E"/>
                </a:solidFill>
                <a:latin typeface="Poppins Medium"/>
                <a:ea typeface="Poppins Medium"/>
                <a:cs typeface="Poppins Medium"/>
                <a:sym typeface="Poppins Medium"/>
              </a:rPr>
              <a:t>Git / GitHub – for version control and backup.</a:t>
            </a:r>
          </a:p>
          <a:p>
            <a:pPr algn="just">
              <a:lnSpc>
                <a:spcPts val="3459"/>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535D6B"/>
        </a:solidFill>
      </p:bgPr>
    </p:bg>
    <p:spTree>
      <p:nvGrpSpPr>
        <p:cNvPr id="1" name=""/>
        <p:cNvGrpSpPr/>
        <p:nvPr/>
      </p:nvGrpSpPr>
      <p:grpSpPr>
        <a:xfrm>
          <a:off x="0" y="0"/>
          <a:ext cx="0" cy="0"/>
          <a:chOff x="0" y="0"/>
          <a:chExt cx="0" cy="0"/>
        </a:xfrm>
      </p:grpSpPr>
      <p:sp>
        <p:nvSpPr>
          <p:cNvPr name="Freeform 2" id="2"/>
          <p:cNvSpPr/>
          <p:nvPr/>
        </p:nvSpPr>
        <p:spPr>
          <a:xfrm flipH="false" flipV="false" rot="0">
            <a:off x="9774281" y="5687270"/>
            <a:ext cx="7128738" cy="3225754"/>
          </a:xfrm>
          <a:custGeom>
            <a:avLst/>
            <a:gdLst/>
            <a:ahLst/>
            <a:cxnLst/>
            <a:rect r="r" b="b" t="t" l="l"/>
            <a:pathLst>
              <a:path h="3225754" w="7128738">
                <a:moveTo>
                  <a:pt x="0" y="0"/>
                </a:moveTo>
                <a:lnTo>
                  <a:pt x="7128738" y="0"/>
                </a:lnTo>
                <a:lnTo>
                  <a:pt x="7128738" y="3225753"/>
                </a:lnTo>
                <a:lnTo>
                  <a:pt x="0" y="3225753"/>
                </a:lnTo>
                <a:lnTo>
                  <a:pt x="0" y="0"/>
                </a:lnTo>
                <a:close/>
              </a:path>
            </a:pathLst>
          </a:custGeom>
          <a:blipFill>
            <a:blip r:embed="rId2"/>
            <a:stretch>
              <a:fillRect l="0" t="0" r="0" b="0"/>
            </a:stretch>
          </a:blipFill>
        </p:spPr>
      </p:sp>
      <p:sp>
        <p:nvSpPr>
          <p:cNvPr name="Freeform 3" id="3"/>
          <p:cNvSpPr/>
          <p:nvPr/>
        </p:nvSpPr>
        <p:spPr>
          <a:xfrm flipH="false" flipV="false" rot="0">
            <a:off x="9774281" y="1855370"/>
            <a:ext cx="7128738" cy="3288130"/>
          </a:xfrm>
          <a:custGeom>
            <a:avLst/>
            <a:gdLst/>
            <a:ahLst/>
            <a:cxnLst/>
            <a:rect r="r" b="b" t="t" l="l"/>
            <a:pathLst>
              <a:path h="3288130" w="7128738">
                <a:moveTo>
                  <a:pt x="0" y="0"/>
                </a:moveTo>
                <a:lnTo>
                  <a:pt x="7128738" y="0"/>
                </a:lnTo>
                <a:lnTo>
                  <a:pt x="7128738" y="3288130"/>
                </a:lnTo>
                <a:lnTo>
                  <a:pt x="0" y="3288130"/>
                </a:lnTo>
                <a:lnTo>
                  <a:pt x="0" y="0"/>
                </a:lnTo>
                <a:close/>
              </a:path>
            </a:pathLst>
          </a:custGeom>
          <a:blipFill>
            <a:blip r:embed="rId3"/>
            <a:stretch>
              <a:fillRect l="0" t="0" r="0" b="0"/>
            </a:stretch>
          </a:blipFill>
        </p:spPr>
      </p:sp>
      <p:sp>
        <p:nvSpPr>
          <p:cNvPr name="Freeform 4" id="4"/>
          <p:cNvSpPr/>
          <p:nvPr/>
        </p:nvSpPr>
        <p:spPr>
          <a:xfrm flipH="false" flipV="false" rot="0">
            <a:off x="1028700" y="1822888"/>
            <a:ext cx="7492070" cy="3353094"/>
          </a:xfrm>
          <a:custGeom>
            <a:avLst/>
            <a:gdLst/>
            <a:ahLst/>
            <a:cxnLst/>
            <a:rect r="r" b="b" t="t" l="l"/>
            <a:pathLst>
              <a:path h="3353094" w="7492070">
                <a:moveTo>
                  <a:pt x="0" y="0"/>
                </a:moveTo>
                <a:lnTo>
                  <a:pt x="7492070" y="0"/>
                </a:lnTo>
                <a:lnTo>
                  <a:pt x="7492070" y="3353094"/>
                </a:lnTo>
                <a:lnTo>
                  <a:pt x="0" y="3353094"/>
                </a:lnTo>
                <a:lnTo>
                  <a:pt x="0" y="0"/>
                </a:lnTo>
                <a:close/>
              </a:path>
            </a:pathLst>
          </a:custGeom>
          <a:blipFill>
            <a:blip r:embed="rId4"/>
            <a:stretch>
              <a:fillRect l="0" t="0" r="0" b="0"/>
            </a:stretch>
          </a:blipFill>
        </p:spPr>
      </p:sp>
      <p:sp>
        <p:nvSpPr>
          <p:cNvPr name="TextBox 5" id="5"/>
          <p:cNvSpPr txBox="true"/>
          <p:nvPr/>
        </p:nvSpPr>
        <p:spPr>
          <a:xfrm rot="0">
            <a:off x="784476" y="666750"/>
            <a:ext cx="5261406" cy="723900"/>
          </a:xfrm>
          <a:prstGeom prst="rect">
            <a:avLst/>
          </a:prstGeom>
        </p:spPr>
        <p:txBody>
          <a:bodyPr anchor="t" rtlCol="false" tIns="0" lIns="0" bIns="0" rIns="0">
            <a:spAutoFit/>
          </a:bodyPr>
          <a:lstStyle/>
          <a:p>
            <a:pPr algn="l">
              <a:lnSpc>
                <a:spcPts val="5760"/>
              </a:lnSpc>
            </a:pPr>
            <a:r>
              <a:rPr lang="en-US" sz="4800">
                <a:solidFill>
                  <a:srgbClr val="F0F2F4"/>
                </a:solidFill>
                <a:latin typeface="RoxboroughCF"/>
                <a:ea typeface="RoxboroughCF"/>
                <a:cs typeface="RoxboroughCF"/>
                <a:sym typeface="RoxboroughCF"/>
              </a:rPr>
              <a:t>Inputs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0F2F4"/>
        </a:solidFill>
      </p:bgPr>
    </p:bg>
    <p:spTree>
      <p:nvGrpSpPr>
        <p:cNvPr id="1" name=""/>
        <p:cNvGrpSpPr/>
        <p:nvPr/>
      </p:nvGrpSpPr>
      <p:grpSpPr>
        <a:xfrm>
          <a:off x="0" y="0"/>
          <a:ext cx="0" cy="0"/>
          <a:chOff x="0" y="0"/>
          <a:chExt cx="0" cy="0"/>
        </a:xfrm>
      </p:grpSpPr>
      <p:sp>
        <p:nvSpPr>
          <p:cNvPr name="Freeform 2" id="2"/>
          <p:cNvSpPr/>
          <p:nvPr/>
        </p:nvSpPr>
        <p:spPr>
          <a:xfrm flipH="false" flipV="false" rot="0">
            <a:off x="10387229" y="813763"/>
            <a:ext cx="6631207" cy="3995302"/>
          </a:xfrm>
          <a:custGeom>
            <a:avLst/>
            <a:gdLst/>
            <a:ahLst/>
            <a:cxnLst/>
            <a:rect r="r" b="b" t="t" l="l"/>
            <a:pathLst>
              <a:path h="3995302" w="6631207">
                <a:moveTo>
                  <a:pt x="0" y="0"/>
                </a:moveTo>
                <a:lnTo>
                  <a:pt x="6631207" y="0"/>
                </a:lnTo>
                <a:lnTo>
                  <a:pt x="6631207" y="3995303"/>
                </a:lnTo>
                <a:lnTo>
                  <a:pt x="0" y="3995303"/>
                </a:lnTo>
                <a:lnTo>
                  <a:pt x="0" y="0"/>
                </a:lnTo>
                <a:close/>
              </a:path>
            </a:pathLst>
          </a:custGeom>
          <a:blipFill>
            <a:blip r:embed="rId2"/>
            <a:stretch>
              <a:fillRect l="0" t="0" r="0" b="0"/>
            </a:stretch>
          </a:blipFill>
        </p:spPr>
      </p:sp>
      <p:sp>
        <p:nvSpPr>
          <p:cNvPr name="Freeform 3" id="3"/>
          <p:cNvSpPr/>
          <p:nvPr/>
        </p:nvSpPr>
        <p:spPr>
          <a:xfrm flipH="false" flipV="false" rot="0">
            <a:off x="1428233" y="5575363"/>
            <a:ext cx="6507900" cy="3937279"/>
          </a:xfrm>
          <a:custGeom>
            <a:avLst/>
            <a:gdLst/>
            <a:ahLst/>
            <a:cxnLst/>
            <a:rect r="r" b="b" t="t" l="l"/>
            <a:pathLst>
              <a:path h="3937279" w="6507900">
                <a:moveTo>
                  <a:pt x="0" y="0"/>
                </a:moveTo>
                <a:lnTo>
                  <a:pt x="6507900" y="0"/>
                </a:lnTo>
                <a:lnTo>
                  <a:pt x="6507900" y="3937279"/>
                </a:lnTo>
                <a:lnTo>
                  <a:pt x="0" y="3937279"/>
                </a:lnTo>
                <a:lnTo>
                  <a:pt x="0" y="0"/>
                </a:lnTo>
                <a:close/>
              </a:path>
            </a:pathLst>
          </a:custGeom>
          <a:blipFill>
            <a:blip r:embed="rId3"/>
            <a:stretch>
              <a:fillRect l="0" t="0" r="0" b="0"/>
            </a:stretch>
          </a:blipFill>
        </p:spPr>
      </p:sp>
      <p:sp>
        <p:nvSpPr>
          <p:cNvPr name="Freeform 4" id="4"/>
          <p:cNvSpPr/>
          <p:nvPr/>
        </p:nvSpPr>
        <p:spPr>
          <a:xfrm flipH="false" flipV="false" rot="0">
            <a:off x="10387229" y="5575363"/>
            <a:ext cx="6631207" cy="3937279"/>
          </a:xfrm>
          <a:custGeom>
            <a:avLst/>
            <a:gdLst/>
            <a:ahLst/>
            <a:cxnLst/>
            <a:rect r="r" b="b" t="t" l="l"/>
            <a:pathLst>
              <a:path h="3937279" w="6631207">
                <a:moveTo>
                  <a:pt x="0" y="0"/>
                </a:moveTo>
                <a:lnTo>
                  <a:pt x="6631207" y="0"/>
                </a:lnTo>
                <a:lnTo>
                  <a:pt x="6631207" y="3937279"/>
                </a:lnTo>
                <a:lnTo>
                  <a:pt x="0" y="3937279"/>
                </a:lnTo>
                <a:lnTo>
                  <a:pt x="0" y="0"/>
                </a:lnTo>
                <a:close/>
              </a:path>
            </a:pathLst>
          </a:custGeom>
          <a:blipFill>
            <a:blip r:embed="rId4"/>
            <a:stretch>
              <a:fillRect l="0" t="0" r="0" b="0"/>
            </a:stretch>
          </a:blipFill>
        </p:spPr>
      </p:sp>
      <p:sp>
        <p:nvSpPr>
          <p:cNvPr name="TextBox 5" id="5"/>
          <p:cNvSpPr txBox="true"/>
          <p:nvPr/>
        </p:nvSpPr>
        <p:spPr>
          <a:xfrm rot="0">
            <a:off x="716945" y="451813"/>
            <a:ext cx="5261406" cy="723900"/>
          </a:xfrm>
          <a:prstGeom prst="rect">
            <a:avLst/>
          </a:prstGeom>
        </p:spPr>
        <p:txBody>
          <a:bodyPr anchor="t" rtlCol="false" tIns="0" lIns="0" bIns="0" rIns="0">
            <a:spAutoFit/>
          </a:bodyPr>
          <a:lstStyle/>
          <a:p>
            <a:pPr algn="l">
              <a:lnSpc>
                <a:spcPts val="5760"/>
              </a:lnSpc>
            </a:pPr>
            <a:r>
              <a:rPr lang="en-US" sz="4800">
                <a:solidFill>
                  <a:srgbClr val="535D6B"/>
                </a:solidFill>
                <a:latin typeface="RoxboroughCF"/>
                <a:ea typeface="RoxboroughCF"/>
                <a:cs typeface="RoxboroughCF"/>
                <a:sym typeface="RoxboroughCF"/>
              </a:rPr>
              <a:t>Knight Adventure</a:t>
            </a:r>
          </a:p>
        </p:txBody>
      </p:sp>
      <p:sp>
        <p:nvSpPr>
          <p:cNvPr name="TextBox 6" id="6"/>
          <p:cNvSpPr txBox="true"/>
          <p:nvPr/>
        </p:nvSpPr>
        <p:spPr>
          <a:xfrm rot="0">
            <a:off x="1206088" y="1671080"/>
            <a:ext cx="4772263" cy="1397000"/>
          </a:xfrm>
          <a:prstGeom prst="rect">
            <a:avLst/>
          </a:prstGeom>
        </p:spPr>
        <p:txBody>
          <a:bodyPr anchor="t" rtlCol="false" tIns="0" lIns="0" bIns="0" rIns="0">
            <a:spAutoFit/>
          </a:bodyPr>
          <a:lstStyle/>
          <a:p>
            <a:pPr algn="just">
              <a:lnSpc>
                <a:spcPts val="2800"/>
              </a:lnSpc>
            </a:pPr>
          </a:p>
          <a:p>
            <a:pPr algn="just">
              <a:lnSpc>
                <a:spcPts val="2800"/>
              </a:lnSpc>
            </a:pPr>
            <a:r>
              <a:rPr lang="en-US" sz="2000" spc="20">
                <a:solidFill>
                  <a:srgbClr val="000000"/>
                </a:solidFill>
                <a:latin typeface="Poppins Light"/>
                <a:ea typeface="Poppins Light"/>
                <a:cs typeface="Poppins Light"/>
                <a:sym typeface="Poppins Light"/>
              </a:rPr>
              <a:t>Levels: Forest , Desert , Graveyard</a:t>
            </a:r>
          </a:p>
          <a:p>
            <a:pPr algn="just">
              <a:lnSpc>
                <a:spcPts val="2800"/>
              </a:lnSpc>
            </a:pPr>
            <a:r>
              <a:rPr lang="en-US" sz="2000" spc="20">
                <a:solidFill>
                  <a:srgbClr val="000000"/>
                </a:solidFill>
                <a:latin typeface="Poppins Light"/>
                <a:ea typeface="Poppins Light"/>
                <a:cs typeface="Poppins Light"/>
                <a:sym typeface="Poppins Light"/>
              </a:rPr>
              <a:t>Enemies: Snake , Hyena , Mummy</a:t>
            </a:r>
          </a:p>
          <a:p>
            <a:pPr algn="just">
              <a:lnSpc>
                <a:spcPts val="2800"/>
              </a:lnSpc>
              <a:spcBef>
                <a:spcPct val="0"/>
              </a:spcBef>
            </a:pPr>
            <a:r>
              <a:rPr lang="en-US" sz="2000" spc="20">
                <a:solidFill>
                  <a:srgbClr val="000000"/>
                </a:solidFill>
                <a:latin typeface="Poppins Light"/>
                <a:ea typeface="Poppins Light"/>
                <a:cs typeface="Poppins Light"/>
                <a:sym typeface="Poppins Light"/>
              </a:rPr>
              <a:t>Features: Attacck , Jump , Castle goal</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535D6B"/>
        </a:solidFill>
      </p:bgPr>
    </p:bg>
    <p:spTree>
      <p:nvGrpSpPr>
        <p:cNvPr id="1" name=""/>
        <p:cNvGrpSpPr/>
        <p:nvPr/>
      </p:nvGrpSpPr>
      <p:grpSpPr>
        <a:xfrm>
          <a:off x="0" y="0"/>
          <a:ext cx="0" cy="0"/>
          <a:chOff x="0" y="0"/>
          <a:chExt cx="0" cy="0"/>
        </a:xfrm>
      </p:grpSpPr>
      <p:sp>
        <p:nvSpPr>
          <p:cNvPr name="Freeform 2" id="2"/>
          <p:cNvSpPr/>
          <p:nvPr/>
        </p:nvSpPr>
        <p:spPr>
          <a:xfrm flipH="false" flipV="false" rot="0">
            <a:off x="10107044" y="1028700"/>
            <a:ext cx="6596312" cy="3982523"/>
          </a:xfrm>
          <a:custGeom>
            <a:avLst/>
            <a:gdLst/>
            <a:ahLst/>
            <a:cxnLst/>
            <a:rect r="r" b="b" t="t" l="l"/>
            <a:pathLst>
              <a:path h="3982523" w="6596312">
                <a:moveTo>
                  <a:pt x="0" y="0"/>
                </a:moveTo>
                <a:lnTo>
                  <a:pt x="6596312" y="0"/>
                </a:lnTo>
                <a:lnTo>
                  <a:pt x="6596312" y="3982523"/>
                </a:lnTo>
                <a:lnTo>
                  <a:pt x="0" y="3982523"/>
                </a:lnTo>
                <a:lnTo>
                  <a:pt x="0" y="0"/>
                </a:lnTo>
                <a:close/>
              </a:path>
            </a:pathLst>
          </a:custGeom>
          <a:blipFill>
            <a:blip r:embed="rId2"/>
            <a:stretch>
              <a:fillRect l="0" t="0" r="0" b="0"/>
            </a:stretch>
          </a:blipFill>
        </p:spPr>
      </p:sp>
      <p:sp>
        <p:nvSpPr>
          <p:cNvPr name="Freeform 3" id="3"/>
          <p:cNvSpPr/>
          <p:nvPr/>
        </p:nvSpPr>
        <p:spPr>
          <a:xfrm flipH="false" flipV="false" rot="0">
            <a:off x="1706910" y="5510079"/>
            <a:ext cx="6528727" cy="3982523"/>
          </a:xfrm>
          <a:custGeom>
            <a:avLst/>
            <a:gdLst/>
            <a:ahLst/>
            <a:cxnLst/>
            <a:rect r="r" b="b" t="t" l="l"/>
            <a:pathLst>
              <a:path h="3982523" w="6528727">
                <a:moveTo>
                  <a:pt x="0" y="0"/>
                </a:moveTo>
                <a:lnTo>
                  <a:pt x="6528727" y="0"/>
                </a:lnTo>
                <a:lnTo>
                  <a:pt x="6528727" y="3982524"/>
                </a:lnTo>
                <a:lnTo>
                  <a:pt x="0" y="3982524"/>
                </a:lnTo>
                <a:lnTo>
                  <a:pt x="0" y="0"/>
                </a:lnTo>
                <a:close/>
              </a:path>
            </a:pathLst>
          </a:custGeom>
          <a:blipFill>
            <a:blip r:embed="rId3"/>
            <a:stretch>
              <a:fillRect l="0" t="0" r="0" b="0"/>
            </a:stretch>
          </a:blipFill>
        </p:spPr>
      </p:sp>
      <p:sp>
        <p:nvSpPr>
          <p:cNvPr name="Freeform 4" id="4"/>
          <p:cNvSpPr/>
          <p:nvPr/>
        </p:nvSpPr>
        <p:spPr>
          <a:xfrm flipH="false" flipV="false" rot="0">
            <a:off x="10122747" y="5520835"/>
            <a:ext cx="6564905" cy="3971767"/>
          </a:xfrm>
          <a:custGeom>
            <a:avLst/>
            <a:gdLst/>
            <a:ahLst/>
            <a:cxnLst/>
            <a:rect r="r" b="b" t="t" l="l"/>
            <a:pathLst>
              <a:path h="3971767" w="6564905">
                <a:moveTo>
                  <a:pt x="0" y="0"/>
                </a:moveTo>
                <a:lnTo>
                  <a:pt x="6564905" y="0"/>
                </a:lnTo>
                <a:lnTo>
                  <a:pt x="6564905" y="3971768"/>
                </a:lnTo>
                <a:lnTo>
                  <a:pt x="0" y="3971768"/>
                </a:lnTo>
                <a:lnTo>
                  <a:pt x="0" y="0"/>
                </a:lnTo>
                <a:close/>
              </a:path>
            </a:pathLst>
          </a:custGeom>
          <a:blipFill>
            <a:blip r:embed="rId4"/>
            <a:stretch>
              <a:fillRect l="0" t="0" r="0" b="0"/>
            </a:stretch>
          </a:blipFill>
        </p:spPr>
      </p:sp>
      <p:sp>
        <p:nvSpPr>
          <p:cNvPr name="TextBox 5" id="5"/>
          <p:cNvSpPr txBox="true"/>
          <p:nvPr/>
        </p:nvSpPr>
        <p:spPr>
          <a:xfrm rot="0">
            <a:off x="716945" y="451813"/>
            <a:ext cx="5261406" cy="723900"/>
          </a:xfrm>
          <a:prstGeom prst="rect">
            <a:avLst/>
          </a:prstGeom>
        </p:spPr>
        <p:txBody>
          <a:bodyPr anchor="t" rtlCol="false" tIns="0" lIns="0" bIns="0" rIns="0">
            <a:spAutoFit/>
          </a:bodyPr>
          <a:lstStyle/>
          <a:p>
            <a:pPr algn="l">
              <a:lnSpc>
                <a:spcPts val="5760"/>
              </a:lnSpc>
            </a:pPr>
            <a:r>
              <a:rPr lang="en-US" sz="4800">
                <a:solidFill>
                  <a:srgbClr val="F0F2F4"/>
                </a:solidFill>
                <a:latin typeface="RoxboroughCF"/>
                <a:ea typeface="RoxboroughCF"/>
                <a:cs typeface="RoxboroughCF"/>
                <a:sym typeface="RoxboroughCF"/>
              </a:rPr>
              <a:t>Space Shooter</a:t>
            </a:r>
          </a:p>
        </p:txBody>
      </p:sp>
      <p:sp>
        <p:nvSpPr>
          <p:cNvPr name="TextBox 6" id="6"/>
          <p:cNvSpPr txBox="true"/>
          <p:nvPr/>
        </p:nvSpPr>
        <p:spPr>
          <a:xfrm rot="0">
            <a:off x="1206088" y="1671080"/>
            <a:ext cx="7355443" cy="1397000"/>
          </a:xfrm>
          <a:prstGeom prst="rect">
            <a:avLst/>
          </a:prstGeom>
        </p:spPr>
        <p:txBody>
          <a:bodyPr anchor="t" rtlCol="false" tIns="0" lIns="0" bIns="0" rIns="0">
            <a:spAutoFit/>
          </a:bodyPr>
          <a:lstStyle/>
          <a:p>
            <a:pPr algn="just">
              <a:lnSpc>
                <a:spcPts val="2800"/>
              </a:lnSpc>
            </a:pPr>
          </a:p>
          <a:p>
            <a:pPr algn="just">
              <a:lnSpc>
                <a:spcPts val="2800"/>
              </a:lnSpc>
            </a:pPr>
            <a:r>
              <a:rPr lang="en-US" sz="2000" spc="20">
                <a:solidFill>
                  <a:srgbClr val="F0F2F4"/>
                </a:solidFill>
                <a:latin typeface="Poppins Light"/>
                <a:ea typeface="Poppins Light"/>
                <a:cs typeface="Poppins Light"/>
                <a:sym typeface="Poppins Light"/>
              </a:rPr>
              <a:t>Levels: Outer orbit , Asteroid  Belt , Deep Space</a:t>
            </a:r>
          </a:p>
          <a:p>
            <a:pPr algn="just">
              <a:lnSpc>
                <a:spcPts val="2800"/>
              </a:lnSpc>
            </a:pPr>
            <a:r>
              <a:rPr lang="en-US" sz="2000" spc="20">
                <a:solidFill>
                  <a:srgbClr val="F0F2F4"/>
                </a:solidFill>
                <a:latin typeface="Poppins Light"/>
                <a:ea typeface="Poppins Light"/>
                <a:cs typeface="Poppins Light"/>
                <a:sym typeface="Poppins Light"/>
              </a:rPr>
              <a:t>Enemies: Alien , Drone , Boss</a:t>
            </a:r>
          </a:p>
          <a:p>
            <a:pPr algn="just">
              <a:lnSpc>
                <a:spcPts val="2800"/>
              </a:lnSpc>
              <a:spcBef>
                <a:spcPct val="0"/>
              </a:spcBef>
            </a:pPr>
            <a:r>
              <a:rPr lang="en-US" sz="2000" spc="20">
                <a:solidFill>
                  <a:srgbClr val="F0F2F4"/>
                </a:solidFill>
                <a:latin typeface="Poppins Light"/>
                <a:ea typeface="Poppins Light"/>
                <a:cs typeface="Poppins Light"/>
                <a:sym typeface="Poppins Light"/>
              </a:rPr>
              <a:t>Features: Continuous shooting , Enemy waves , Boss battle</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0F2F4"/>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2174171" y="4039988"/>
            <a:ext cx="303645" cy="303645"/>
            <a:chOff x="-2540" y="-2540"/>
            <a:chExt cx="6355080" cy="6355080"/>
          </a:xfrm>
        </p:grpSpPr>
        <p:sp>
          <p:nvSpPr>
            <p:cNvPr name="Freeform 3" id="3"/>
            <p:cNvSpPr/>
            <p:nvPr/>
          </p:nvSpPr>
          <p:spPr>
            <a:xfrm flipH="false" flipV="false" rot="0">
              <a:off x="-2540" y="-254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535D6B"/>
            </a:solidFill>
          </p:spPr>
        </p:sp>
      </p:grpSp>
      <p:grpSp>
        <p:nvGrpSpPr>
          <p:cNvPr name="Group 4" id="4"/>
          <p:cNvGrpSpPr/>
          <p:nvPr/>
        </p:nvGrpSpPr>
        <p:grpSpPr>
          <a:xfrm rot="0">
            <a:off x="891931" y="1028700"/>
            <a:ext cx="8233588" cy="1518197"/>
            <a:chOff x="0" y="0"/>
            <a:chExt cx="10978117" cy="2024263"/>
          </a:xfrm>
        </p:grpSpPr>
        <p:sp>
          <p:nvSpPr>
            <p:cNvPr name="TextBox 5" id="5"/>
            <p:cNvSpPr txBox="true"/>
            <p:nvPr/>
          </p:nvSpPr>
          <p:spPr>
            <a:xfrm rot="0">
              <a:off x="0" y="0"/>
              <a:ext cx="10978117" cy="965200"/>
            </a:xfrm>
            <a:prstGeom prst="rect">
              <a:avLst/>
            </a:prstGeom>
          </p:spPr>
          <p:txBody>
            <a:bodyPr anchor="t" rtlCol="false" tIns="0" lIns="0" bIns="0" rIns="0">
              <a:spAutoFit/>
            </a:bodyPr>
            <a:lstStyle/>
            <a:p>
              <a:pPr algn="l">
                <a:lnSpc>
                  <a:spcPts val="5760"/>
                </a:lnSpc>
              </a:pPr>
              <a:r>
                <a:rPr lang="en-US" sz="4800">
                  <a:solidFill>
                    <a:srgbClr val="535D6B"/>
                  </a:solidFill>
                  <a:latin typeface="RoxboroughCF"/>
                  <a:ea typeface="RoxboroughCF"/>
                  <a:cs typeface="RoxboroughCF"/>
                  <a:sym typeface="RoxboroughCF"/>
                </a:rPr>
                <a:t>Result</a:t>
              </a:r>
            </a:p>
          </p:txBody>
        </p:sp>
        <p:sp>
          <p:nvSpPr>
            <p:cNvPr name="TextBox 6" id="6"/>
            <p:cNvSpPr txBox="true"/>
            <p:nvPr/>
          </p:nvSpPr>
          <p:spPr>
            <a:xfrm rot="0">
              <a:off x="0" y="1448310"/>
              <a:ext cx="10978117" cy="575953"/>
            </a:xfrm>
            <a:prstGeom prst="rect">
              <a:avLst/>
            </a:prstGeom>
          </p:spPr>
          <p:txBody>
            <a:bodyPr anchor="t" rtlCol="false" tIns="0" lIns="0" bIns="0" rIns="0">
              <a:spAutoFit/>
            </a:bodyPr>
            <a:lstStyle/>
            <a:p>
              <a:pPr algn="l">
                <a:lnSpc>
                  <a:spcPts val="3640"/>
                </a:lnSpc>
                <a:spcBef>
                  <a:spcPct val="0"/>
                </a:spcBef>
              </a:pPr>
            </a:p>
          </p:txBody>
        </p:sp>
      </p:grpSp>
      <p:sp>
        <p:nvSpPr>
          <p:cNvPr name="TextBox 7" id="7"/>
          <p:cNvSpPr txBox="true"/>
          <p:nvPr/>
        </p:nvSpPr>
        <p:spPr>
          <a:xfrm rot="0">
            <a:off x="1496241" y="2120899"/>
            <a:ext cx="15763059" cy="3022601"/>
          </a:xfrm>
          <a:prstGeom prst="rect">
            <a:avLst/>
          </a:prstGeom>
        </p:spPr>
        <p:txBody>
          <a:bodyPr anchor="t" rtlCol="false" tIns="0" lIns="0" bIns="0" rIns="0">
            <a:spAutoFit/>
          </a:bodyPr>
          <a:lstStyle/>
          <a:p>
            <a:pPr algn="just" marL="431799" indent="-215899" lvl="1">
              <a:lnSpc>
                <a:spcPts val="4099"/>
              </a:lnSpc>
              <a:buFont typeface="Arial"/>
              <a:buChar char="•"/>
            </a:pPr>
            <a:r>
              <a:rPr lang="en-US" sz="1999" spc="19">
                <a:solidFill>
                  <a:srgbClr val="111B1E"/>
                </a:solidFill>
                <a:latin typeface="Poppins Medium"/>
                <a:ea typeface="Poppins Medium"/>
                <a:cs typeface="Poppins Medium"/>
                <a:sym typeface="Poppins Medium"/>
              </a:rPr>
              <a:t>Successfully converts stories into 2D games</a:t>
            </a:r>
          </a:p>
          <a:p>
            <a:pPr algn="just" marL="431799" indent="-215899" lvl="1">
              <a:lnSpc>
                <a:spcPts val="4099"/>
              </a:lnSpc>
              <a:buFont typeface="Arial"/>
              <a:buChar char="•"/>
            </a:pPr>
            <a:r>
              <a:rPr lang="en-US" sz="1999" spc="19">
                <a:solidFill>
                  <a:srgbClr val="111B1E"/>
                </a:solidFill>
                <a:latin typeface="Poppins Medium"/>
                <a:ea typeface="Poppins Medium"/>
                <a:cs typeface="Poppins Medium"/>
                <a:sym typeface="Poppins Medium"/>
              </a:rPr>
              <a:t>Two genres: Knight Adventure &amp; Space Shooter</a:t>
            </a:r>
          </a:p>
          <a:p>
            <a:pPr algn="just" marL="431799" indent="-215899" lvl="1">
              <a:lnSpc>
                <a:spcPts val="4099"/>
              </a:lnSpc>
              <a:buFont typeface="Arial"/>
              <a:buChar char="•"/>
            </a:pPr>
            <a:r>
              <a:rPr lang="en-US" sz="1999" spc="19">
                <a:solidFill>
                  <a:srgbClr val="111B1E"/>
                </a:solidFill>
                <a:latin typeface="Poppins Medium"/>
                <a:ea typeface="Poppins Medium"/>
                <a:cs typeface="Poppins Medium"/>
                <a:sym typeface="Poppins Medium"/>
              </a:rPr>
              <a:t>Multi-level progression with unique enemies</a:t>
            </a:r>
          </a:p>
          <a:p>
            <a:pPr algn="just" marL="431799" indent="-215899" lvl="1">
              <a:lnSpc>
                <a:spcPts val="4099"/>
              </a:lnSpc>
              <a:buFont typeface="Arial"/>
              <a:buChar char="•"/>
            </a:pPr>
            <a:r>
              <a:rPr lang="en-US" sz="1999" spc="19">
                <a:solidFill>
                  <a:srgbClr val="111B1E"/>
                </a:solidFill>
                <a:latin typeface="Poppins Medium"/>
                <a:ea typeface="Poppins Medium"/>
                <a:cs typeface="Poppins Medium"/>
                <a:sym typeface="Poppins Medium"/>
              </a:rPr>
              <a:t>Integrated animations &amp; sound effects</a:t>
            </a:r>
          </a:p>
          <a:p>
            <a:pPr algn="just" marL="431799" indent="-215899" lvl="1">
              <a:lnSpc>
                <a:spcPts val="4099"/>
              </a:lnSpc>
              <a:buFont typeface="Arial"/>
              <a:buChar char="•"/>
            </a:pPr>
            <a:r>
              <a:rPr lang="en-US" sz="1999" spc="19">
                <a:solidFill>
                  <a:srgbClr val="111B1E"/>
                </a:solidFill>
                <a:latin typeface="Poppins Medium"/>
                <a:ea typeface="Poppins Medium"/>
                <a:cs typeface="Poppins Medium"/>
                <a:sym typeface="Poppins Medium"/>
              </a:rPr>
              <a:t>Smooth gameplay with user story input</a:t>
            </a:r>
          </a:p>
          <a:p>
            <a:pPr algn="just">
              <a:lnSpc>
                <a:spcPts val="4099"/>
              </a:lnSpc>
            </a:pP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B8C6DD"/>
        </a:solidFill>
      </p:bgPr>
    </p:bg>
    <p:spTree>
      <p:nvGrpSpPr>
        <p:cNvPr id="1" name=""/>
        <p:cNvGrpSpPr/>
        <p:nvPr/>
      </p:nvGrpSpPr>
      <p:grpSpPr>
        <a:xfrm>
          <a:off x="0" y="0"/>
          <a:ext cx="0" cy="0"/>
          <a:chOff x="0" y="0"/>
          <a:chExt cx="0" cy="0"/>
        </a:xfrm>
      </p:grpSpPr>
      <p:sp>
        <p:nvSpPr>
          <p:cNvPr name="TextBox 2" id="2"/>
          <p:cNvSpPr txBox="true"/>
          <p:nvPr/>
        </p:nvSpPr>
        <p:spPr>
          <a:xfrm rot="0">
            <a:off x="555999" y="1028700"/>
            <a:ext cx="7529333" cy="723900"/>
          </a:xfrm>
          <a:prstGeom prst="rect">
            <a:avLst/>
          </a:prstGeom>
        </p:spPr>
        <p:txBody>
          <a:bodyPr anchor="t" rtlCol="false" tIns="0" lIns="0" bIns="0" rIns="0">
            <a:spAutoFit/>
          </a:bodyPr>
          <a:lstStyle/>
          <a:p>
            <a:pPr algn="l">
              <a:lnSpc>
                <a:spcPts val="5760"/>
              </a:lnSpc>
            </a:pPr>
            <a:r>
              <a:rPr lang="en-US" sz="4800">
                <a:solidFill>
                  <a:srgbClr val="535D6B"/>
                </a:solidFill>
                <a:latin typeface="RoxboroughCF"/>
                <a:ea typeface="RoxboroughCF"/>
                <a:cs typeface="RoxboroughCF"/>
                <a:sym typeface="RoxboroughCF"/>
              </a:rPr>
              <a:t>Challenges</a:t>
            </a:r>
          </a:p>
        </p:txBody>
      </p:sp>
      <p:sp>
        <p:nvSpPr>
          <p:cNvPr name="TextBox 3" id="3"/>
          <p:cNvSpPr txBox="true"/>
          <p:nvPr/>
        </p:nvSpPr>
        <p:spPr>
          <a:xfrm rot="0">
            <a:off x="1028700" y="2129863"/>
            <a:ext cx="15729122" cy="2249805"/>
          </a:xfrm>
          <a:prstGeom prst="rect">
            <a:avLst/>
          </a:prstGeom>
        </p:spPr>
        <p:txBody>
          <a:bodyPr anchor="t" rtlCol="false" tIns="0" lIns="0" bIns="0" rIns="0">
            <a:spAutoFit/>
          </a:bodyPr>
          <a:lstStyle/>
          <a:p>
            <a:pPr algn="just" marL="431799" indent="-215899" lvl="1">
              <a:lnSpc>
                <a:spcPts val="2999"/>
              </a:lnSpc>
              <a:buFont typeface="Arial"/>
              <a:buChar char="•"/>
            </a:pPr>
            <a:r>
              <a:rPr lang="en-US" sz="1999" spc="19">
                <a:solidFill>
                  <a:srgbClr val="111B1E"/>
                </a:solidFill>
                <a:latin typeface="Poppins Medium"/>
                <a:ea typeface="Poppins Medium"/>
                <a:cs typeface="Poppins Medium"/>
                <a:sym typeface="Poppins Medium"/>
              </a:rPr>
              <a:t>Dataset complexity and story variability</a:t>
            </a:r>
          </a:p>
          <a:p>
            <a:pPr algn="just" marL="431799" indent="-215899" lvl="1">
              <a:lnSpc>
                <a:spcPts val="2999"/>
              </a:lnSpc>
              <a:buFont typeface="Arial"/>
              <a:buChar char="•"/>
            </a:pPr>
            <a:r>
              <a:rPr lang="en-US" sz="1999" spc="19">
                <a:solidFill>
                  <a:srgbClr val="111B1E"/>
                </a:solidFill>
                <a:latin typeface="Poppins Medium"/>
                <a:ea typeface="Poppins Medium"/>
                <a:cs typeface="Poppins Medium"/>
                <a:sym typeface="Poppins Medium"/>
              </a:rPr>
              <a:t>Handling inconsistent sprite sizes &amp; animations</a:t>
            </a:r>
          </a:p>
          <a:p>
            <a:pPr algn="just" marL="431799" indent="-215899" lvl="1">
              <a:lnSpc>
                <a:spcPts val="2999"/>
              </a:lnSpc>
              <a:buFont typeface="Arial"/>
              <a:buChar char="•"/>
            </a:pPr>
            <a:r>
              <a:rPr lang="en-US" sz="1999" spc="19">
                <a:solidFill>
                  <a:srgbClr val="111B1E"/>
                </a:solidFill>
                <a:latin typeface="Poppins Medium"/>
                <a:ea typeface="Poppins Medium"/>
                <a:cs typeface="Poppins Medium"/>
                <a:sym typeface="Poppins Medium"/>
              </a:rPr>
              <a:t>ML classification accuracy for mixed words</a:t>
            </a:r>
          </a:p>
          <a:p>
            <a:pPr algn="just" marL="431799" indent="-215899" lvl="1">
              <a:lnSpc>
                <a:spcPts val="2999"/>
              </a:lnSpc>
              <a:buFont typeface="Arial"/>
              <a:buChar char="•"/>
            </a:pPr>
            <a:r>
              <a:rPr lang="en-US" sz="1999" spc="19">
                <a:solidFill>
                  <a:srgbClr val="111B1E"/>
                </a:solidFill>
                <a:latin typeface="Poppins Medium"/>
                <a:ea typeface="Poppins Medium"/>
                <a:cs typeface="Poppins Medium"/>
                <a:sym typeface="Poppins Medium"/>
              </a:rPr>
              <a:t>Integrating ML pipeline with Pygame</a:t>
            </a:r>
          </a:p>
          <a:p>
            <a:pPr algn="just" marL="431799" indent="-215899" lvl="1">
              <a:lnSpc>
                <a:spcPts val="2999"/>
              </a:lnSpc>
              <a:buFont typeface="Arial"/>
              <a:buChar char="•"/>
            </a:pPr>
            <a:r>
              <a:rPr lang="en-US" sz="1999" spc="19">
                <a:solidFill>
                  <a:srgbClr val="111B1E"/>
                </a:solidFill>
                <a:latin typeface="Poppins Medium"/>
                <a:ea typeface="Poppins Medium"/>
                <a:cs typeface="Poppins Medium"/>
                <a:sym typeface="Poppins Medium"/>
              </a:rPr>
              <a:t>Performance optimization for smooth gamepla</a:t>
            </a:r>
          </a:p>
          <a:p>
            <a:pPr algn="just">
              <a:lnSpc>
                <a:spcPts val="3719"/>
              </a:lnSpc>
            </a:pPr>
          </a:p>
        </p:txBody>
      </p:sp>
      <p:sp>
        <p:nvSpPr>
          <p:cNvPr name="TextBox 4" id="4"/>
          <p:cNvSpPr txBox="true"/>
          <p:nvPr/>
        </p:nvSpPr>
        <p:spPr>
          <a:xfrm rot="0">
            <a:off x="555999" y="4743450"/>
            <a:ext cx="7529333" cy="723900"/>
          </a:xfrm>
          <a:prstGeom prst="rect">
            <a:avLst/>
          </a:prstGeom>
        </p:spPr>
        <p:txBody>
          <a:bodyPr anchor="t" rtlCol="false" tIns="0" lIns="0" bIns="0" rIns="0">
            <a:spAutoFit/>
          </a:bodyPr>
          <a:lstStyle/>
          <a:p>
            <a:pPr algn="l">
              <a:lnSpc>
                <a:spcPts val="5760"/>
              </a:lnSpc>
            </a:pPr>
            <a:r>
              <a:rPr lang="en-US" sz="4800">
                <a:solidFill>
                  <a:srgbClr val="535D6B"/>
                </a:solidFill>
                <a:latin typeface="RoxboroughCF"/>
                <a:ea typeface="RoxboroughCF"/>
                <a:cs typeface="RoxboroughCF"/>
                <a:sym typeface="RoxboroughCF"/>
              </a:rPr>
              <a:t>Future Scope</a:t>
            </a:r>
          </a:p>
        </p:txBody>
      </p:sp>
      <p:sp>
        <p:nvSpPr>
          <p:cNvPr name="TextBox 5" id="5"/>
          <p:cNvSpPr txBox="true"/>
          <p:nvPr/>
        </p:nvSpPr>
        <p:spPr>
          <a:xfrm rot="0">
            <a:off x="1028700" y="5812343"/>
            <a:ext cx="15729122" cy="2244090"/>
          </a:xfrm>
          <a:prstGeom prst="rect">
            <a:avLst/>
          </a:prstGeom>
        </p:spPr>
        <p:txBody>
          <a:bodyPr anchor="t" rtlCol="false" tIns="0" lIns="0" bIns="0" rIns="0">
            <a:spAutoFit/>
          </a:bodyPr>
          <a:lstStyle/>
          <a:p>
            <a:pPr algn="just" marL="431799" indent="-215899" lvl="1">
              <a:lnSpc>
                <a:spcPts val="2999"/>
              </a:lnSpc>
              <a:buFont typeface="Arial"/>
              <a:buChar char="•"/>
            </a:pPr>
            <a:r>
              <a:rPr lang="en-US" sz="1999" spc="19">
                <a:solidFill>
                  <a:srgbClr val="111B1E"/>
                </a:solidFill>
                <a:latin typeface="Poppins Medium"/>
                <a:ea typeface="Poppins Medium"/>
                <a:cs typeface="Poppins Medium"/>
                <a:sym typeface="Poppins Medium"/>
              </a:rPr>
              <a:t>Add more game genres (RPG, Racing, Puzzle)</a:t>
            </a:r>
          </a:p>
          <a:p>
            <a:pPr algn="just" marL="431799" indent="-215899" lvl="1">
              <a:lnSpc>
                <a:spcPts val="2999"/>
              </a:lnSpc>
              <a:buFont typeface="Arial"/>
              <a:buChar char="•"/>
            </a:pPr>
            <a:r>
              <a:rPr lang="en-US" sz="1999" spc="19">
                <a:solidFill>
                  <a:srgbClr val="111B1E"/>
                </a:solidFill>
                <a:latin typeface="Poppins Medium"/>
                <a:ea typeface="Poppins Medium"/>
                <a:cs typeface="Poppins Medium"/>
                <a:sym typeface="Poppins Medium"/>
              </a:rPr>
              <a:t>Use advanced NLP (BERT/transformers) for deeper story understanding</a:t>
            </a:r>
          </a:p>
          <a:p>
            <a:pPr algn="just" marL="431799" indent="-215899" lvl="1">
              <a:lnSpc>
                <a:spcPts val="2999"/>
              </a:lnSpc>
              <a:buFont typeface="Arial"/>
              <a:buChar char="•"/>
            </a:pPr>
            <a:r>
              <a:rPr lang="en-US" sz="1999" spc="19">
                <a:solidFill>
                  <a:srgbClr val="111B1E"/>
                </a:solidFill>
                <a:latin typeface="Poppins Medium"/>
                <a:ea typeface="Poppins Medium"/>
                <a:cs typeface="Poppins Medium"/>
                <a:sym typeface="Poppins Medium"/>
              </a:rPr>
              <a:t>Procedural map and level generation</a:t>
            </a:r>
          </a:p>
          <a:p>
            <a:pPr algn="just" marL="431799" indent="-215899" lvl="1">
              <a:lnSpc>
                <a:spcPts val="2999"/>
              </a:lnSpc>
              <a:buFont typeface="Arial"/>
              <a:buChar char="•"/>
            </a:pPr>
            <a:r>
              <a:rPr lang="en-US" sz="1999" spc="19">
                <a:solidFill>
                  <a:srgbClr val="111B1E"/>
                </a:solidFill>
                <a:latin typeface="Poppins Medium"/>
                <a:ea typeface="Poppins Medium"/>
                <a:cs typeface="Poppins Medium"/>
                <a:sym typeface="Poppins Medium"/>
              </a:rPr>
              <a:t>Multiplayer or co-op modes</a:t>
            </a:r>
          </a:p>
          <a:p>
            <a:pPr algn="just" marL="431799" indent="-215899" lvl="1">
              <a:lnSpc>
                <a:spcPts val="2999"/>
              </a:lnSpc>
              <a:buFont typeface="Arial"/>
              <a:buChar char="•"/>
            </a:pPr>
            <a:r>
              <a:rPr lang="en-US" sz="1999" spc="19">
                <a:solidFill>
                  <a:srgbClr val="111B1E"/>
                </a:solidFill>
                <a:latin typeface="Poppins Medium"/>
                <a:ea typeface="Poppins Medium"/>
                <a:cs typeface="Poppins Medium"/>
                <a:sym typeface="Poppins Medium"/>
              </a:rPr>
              <a:t>Deploy as a web/cloud-based platform</a:t>
            </a:r>
          </a:p>
          <a:p>
            <a:pPr algn="just">
              <a:lnSpc>
                <a:spcPts val="3659"/>
              </a:lnSpc>
            </a:pP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F0F2F4"/>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2174171" y="4039988"/>
            <a:ext cx="303645" cy="303645"/>
            <a:chOff x="-2540" y="-2540"/>
            <a:chExt cx="6355080" cy="6355080"/>
          </a:xfrm>
        </p:grpSpPr>
        <p:sp>
          <p:nvSpPr>
            <p:cNvPr name="Freeform 3" id="3"/>
            <p:cNvSpPr/>
            <p:nvPr/>
          </p:nvSpPr>
          <p:spPr>
            <a:xfrm flipH="false" flipV="false" rot="0">
              <a:off x="-2540" y="-254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535D6B"/>
            </a:solidFill>
          </p:spPr>
        </p:sp>
      </p:grpSp>
      <p:grpSp>
        <p:nvGrpSpPr>
          <p:cNvPr name="Group 4" id="4"/>
          <p:cNvGrpSpPr/>
          <p:nvPr/>
        </p:nvGrpSpPr>
        <p:grpSpPr>
          <a:xfrm rot="0">
            <a:off x="891931" y="1028700"/>
            <a:ext cx="8233588" cy="1518197"/>
            <a:chOff x="0" y="0"/>
            <a:chExt cx="10978117" cy="2024263"/>
          </a:xfrm>
        </p:grpSpPr>
        <p:sp>
          <p:nvSpPr>
            <p:cNvPr name="TextBox 5" id="5"/>
            <p:cNvSpPr txBox="true"/>
            <p:nvPr/>
          </p:nvSpPr>
          <p:spPr>
            <a:xfrm rot="0">
              <a:off x="0" y="0"/>
              <a:ext cx="10978117" cy="965200"/>
            </a:xfrm>
            <a:prstGeom prst="rect">
              <a:avLst/>
            </a:prstGeom>
          </p:spPr>
          <p:txBody>
            <a:bodyPr anchor="t" rtlCol="false" tIns="0" lIns="0" bIns="0" rIns="0">
              <a:spAutoFit/>
            </a:bodyPr>
            <a:lstStyle/>
            <a:p>
              <a:pPr algn="l">
                <a:lnSpc>
                  <a:spcPts val="5760"/>
                </a:lnSpc>
              </a:pPr>
              <a:r>
                <a:rPr lang="en-US" sz="4800">
                  <a:solidFill>
                    <a:srgbClr val="535D6B"/>
                  </a:solidFill>
                  <a:latin typeface="RoxboroughCF"/>
                  <a:ea typeface="RoxboroughCF"/>
                  <a:cs typeface="RoxboroughCF"/>
                  <a:sym typeface="RoxboroughCF"/>
                </a:rPr>
                <a:t>Conclusion</a:t>
              </a:r>
            </a:p>
          </p:txBody>
        </p:sp>
        <p:sp>
          <p:nvSpPr>
            <p:cNvPr name="TextBox 6" id="6"/>
            <p:cNvSpPr txBox="true"/>
            <p:nvPr/>
          </p:nvSpPr>
          <p:spPr>
            <a:xfrm rot="0">
              <a:off x="0" y="1448310"/>
              <a:ext cx="10978117" cy="575953"/>
            </a:xfrm>
            <a:prstGeom prst="rect">
              <a:avLst/>
            </a:prstGeom>
          </p:spPr>
          <p:txBody>
            <a:bodyPr anchor="t" rtlCol="false" tIns="0" lIns="0" bIns="0" rIns="0">
              <a:spAutoFit/>
            </a:bodyPr>
            <a:lstStyle/>
            <a:p>
              <a:pPr algn="l">
                <a:lnSpc>
                  <a:spcPts val="3640"/>
                </a:lnSpc>
                <a:spcBef>
                  <a:spcPct val="0"/>
                </a:spcBef>
              </a:pPr>
            </a:p>
          </p:txBody>
        </p:sp>
      </p:grpSp>
      <p:sp>
        <p:nvSpPr>
          <p:cNvPr name="TextBox 7" id="7"/>
          <p:cNvSpPr txBox="true"/>
          <p:nvPr/>
        </p:nvSpPr>
        <p:spPr>
          <a:xfrm rot="0">
            <a:off x="1262470" y="2394497"/>
            <a:ext cx="15763059" cy="3022601"/>
          </a:xfrm>
          <a:prstGeom prst="rect">
            <a:avLst/>
          </a:prstGeom>
        </p:spPr>
        <p:txBody>
          <a:bodyPr anchor="t" rtlCol="false" tIns="0" lIns="0" bIns="0" rIns="0">
            <a:spAutoFit/>
          </a:bodyPr>
          <a:lstStyle/>
          <a:p>
            <a:pPr algn="just" marL="431799" indent="-215899" lvl="1">
              <a:lnSpc>
                <a:spcPts val="4099"/>
              </a:lnSpc>
              <a:buFont typeface="Arial"/>
              <a:buChar char="•"/>
            </a:pPr>
            <a:r>
              <a:rPr lang="en-US" sz="1999" spc="19">
                <a:solidFill>
                  <a:srgbClr val="111B1E"/>
                </a:solidFill>
                <a:latin typeface="Poppins Medium"/>
                <a:ea typeface="Poppins Medium"/>
                <a:cs typeface="Poppins Medium"/>
                <a:sym typeface="Poppins Medium"/>
              </a:rPr>
              <a:t>Project achieved story-to-game conversion</a:t>
            </a:r>
          </a:p>
          <a:p>
            <a:pPr algn="just" marL="431799" indent="-215899" lvl="1">
              <a:lnSpc>
                <a:spcPts val="4099"/>
              </a:lnSpc>
              <a:buFont typeface="Arial"/>
              <a:buChar char="•"/>
            </a:pPr>
            <a:r>
              <a:rPr lang="en-US" sz="1999" spc="19">
                <a:solidFill>
                  <a:srgbClr val="111B1E"/>
                </a:solidFill>
                <a:latin typeface="Poppins Medium"/>
                <a:ea typeface="Poppins Medium"/>
                <a:cs typeface="Poppins Medium"/>
                <a:sym typeface="Poppins Medium"/>
              </a:rPr>
              <a:t>Two genres supported: Knight &amp; Space</a:t>
            </a:r>
          </a:p>
          <a:p>
            <a:pPr algn="just" marL="431799" indent="-215899" lvl="1">
              <a:lnSpc>
                <a:spcPts val="4099"/>
              </a:lnSpc>
              <a:buFont typeface="Arial"/>
              <a:buChar char="•"/>
            </a:pPr>
            <a:r>
              <a:rPr lang="en-US" sz="1999" spc="19">
                <a:solidFill>
                  <a:srgbClr val="111B1E"/>
                </a:solidFill>
                <a:latin typeface="Poppins Medium"/>
                <a:ea typeface="Poppins Medium"/>
                <a:cs typeface="Poppins Medium"/>
                <a:sym typeface="Poppins Medium"/>
              </a:rPr>
              <a:t>Multi-level gameplay with enemies, animations, and sound</a:t>
            </a:r>
          </a:p>
          <a:p>
            <a:pPr algn="just" marL="431799" indent="-215899" lvl="1">
              <a:lnSpc>
                <a:spcPts val="4099"/>
              </a:lnSpc>
              <a:buFont typeface="Arial"/>
              <a:buChar char="•"/>
            </a:pPr>
            <a:r>
              <a:rPr lang="en-US" sz="1999" spc="19">
                <a:solidFill>
                  <a:srgbClr val="111B1E"/>
                </a:solidFill>
                <a:latin typeface="Poppins Medium"/>
                <a:ea typeface="Poppins Medium"/>
                <a:cs typeface="Poppins Medium"/>
                <a:sym typeface="Poppins Medium"/>
              </a:rPr>
              <a:t>ML + Pygame integration worked effectively</a:t>
            </a:r>
          </a:p>
          <a:p>
            <a:pPr algn="just" marL="431799" indent="-215899" lvl="1">
              <a:lnSpc>
                <a:spcPts val="4099"/>
              </a:lnSpc>
              <a:buFont typeface="Arial"/>
              <a:buChar char="•"/>
            </a:pPr>
            <a:r>
              <a:rPr lang="en-US" sz="1999" spc="19">
                <a:solidFill>
                  <a:srgbClr val="111B1E"/>
                </a:solidFill>
                <a:latin typeface="Poppins Medium"/>
                <a:ea typeface="Poppins Medium"/>
                <a:cs typeface="Poppins Medium"/>
                <a:sym typeface="Poppins Medium"/>
              </a:rPr>
              <a:t>Foundation for future AI-driven game generation</a:t>
            </a:r>
          </a:p>
          <a:p>
            <a:pPr algn="just">
              <a:lnSpc>
                <a:spcPts val="4099"/>
              </a:lnSpc>
            </a:pP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535D6B"/>
        </a:solidFill>
      </p:bgPr>
    </p:bg>
    <p:spTree>
      <p:nvGrpSpPr>
        <p:cNvPr id="1" name=""/>
        <p:cNvGrpSpPr/>
        <p:nvPr/>
      </p:nvGrpSpPr>
      <p:grpSpPr>
        <a:xfrm>
          <a:off x="0" y="0"/>
          <a:ext cx="0" cy="0"/>
          <a:chOff x="0" y="0"/>
          <a:chExt cx="0" cy="0"/>
        </a:xfrm>
      </p:grpSpPr>
      <p:sp>
        <p:nvSpPr>
          <p:cNvPr name="TextBox 2" id="2"/>
          <p:cNvSpPr txBox="true"/>
          <p:nvPr/>
        </p:nvSpPr>
        <p:spPr>
          <a:xfrm rot="0">
            <a:off x="6309894" y="3995314"/>
            <a:ext cx="6028373" cy="1614774"/>
          </a:xfrm>
          <a:prstGeom prst="rect">
            <a:avLst/>
          </a:prstGeom>
        </p:spPr>
        <p:txBody>
          <a:bodyPr anchor="t" rtlCol="false" tIns="0" lIns="0" bIns="0" rIns="0">
            <a:spAutoFit/>
          </a:bodyPr>
          <a:lstStyle/>
          <a:p>
            <a:pPr algn="ctr">
              <a:lnSpc>
                <a:spcPts val="13301"/>
              </a:lnSpc>
              <a:spcBef>
                <a:spcPct val="0"/>
              </a:spcBef>
            </a:pPr>
            <a:r>
              <a:rPr lang="en-US" sz="8867" spc="88">
                <a:solidFill>
                  <a:srgbClr val="F0F2F4"/>
                </a:solidFill>
                <a:latin typeface="Poppins Medium"/>
                <a:ea typeface="Poppins Medium"/>
                <a:cs typeface="Poppins Medium"/>
                <a:sym typeface="Poppins Medium"/>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DAGsl7zXoI8</dc:identifier>
  <dcterms:modified xsi:type="dcterms:W3CDTF">2011-08-01T06:04:30Z</dcterms:modified>
  <cp:revision>1</cp:revision>
  <dc:title>StoryToGame: Game Level Generator from Narrative Input</dc:title>
</cp:coreProperties>
</file>